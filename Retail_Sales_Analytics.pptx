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Times New Roman Bold" charset="1" panose="02020803070505020304"/>
      <p:regular r:id="rId21"/>
    </p:embeddedFont>
    <p:embeddedFont>
      <p:font typeface="Times New Roman Italics" charset="1" panose="02020503050405090304"/>
      <p:regular r:id="rId22"/>
    </p:embeddedFont>
    <p:embeddedFont>
      <p:font typeface="Times New Roman" charset="1" panose="02020603050405020304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notesMasters/notesMaster1.xml" Type="http://schemas.openxmlformats.org/officeDocument/2006/relationships/notesMaster"/><Relationship Id="rId19" Target="theme/theme2.xml" Type="http://schemas.openxmlformats.org/officeDocument/2006/relationships/theme"/><Relationship Id="rId2" Target="presProps.xml" Type="http://schemas.openxmlformats.org/officeDocument/2006/relationships/presProps"/><Relationship Id="rId20" Target="notesSlides/notesSlide1.xml" Type="http://schemas.openxmlformats.org/officeDocument/2006/relationships/notes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notesSlides/notesSlide2.xml" Type="http://schemas.openxmlformats.org/officeDocument/2006/relationships/notesSlide"/><Relationship Id="rId24" Target="fonts/font24.fntdata" Type="http://schemas.openxmlformats.org/officeDocument/2006/relationships/font"/><Relationship Id="rId25" Target="notesSlides/notesSlide3.xml" Type="http://schemas.openxmlformats.org/officeDocument/2006/relationships/notesSlide"/><Relationship Id="rId26" Target="notesSlides/notesSlide4.xml" Type="http://schemas.openxmlformats.org/officeDocument/2006/relationships/notesSlide"/><Relationship Id="rId27" Target="notesSlides/notesSlide5.xml" Type="http://schemas.openxmlformats.org/officeDocument/2006/relationships/notesSlide"/><Relationship Id="rId28" Target="notesSlides/notesSlide6.xml" Type="http://schemas.openxmlformats.org/officeDocument/2006/relationships/notesSlide"/><Relationship Id="rId29" Target="notesSlides/notesSlide7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8.xml" Type="http://schemas.openxmlformats.org/officeDocument/2006/relationships/notesSlide"/><Relationship Id="rId31" Target="notesSlides/notesSlide9.xml" Type="http://schemas.openxmlformats.org/officeDocument/2006/relationships/notesSlide"/><Relationship Id="rId32" Target="notesSlides/notesSlide10.xml" Type="http://schemas.openxmlformats.org/officeDocument/2006/relationships/notesSlide"/><Relationship Id="rId33" Target="notesSlides/notesSlide11.xml" Type="http://schemas.openxmlformats.org/officeDocument/2006/relationships/notesSlide"/><Relationship Id="rId34" Target="notesSlides/notesSlide12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DE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886794" y="2264734"/>
            <a:ext cx="5622766" cy="977265"/>
            <a:chOff x="0" y="0"/>
            <a:chExt cx="7497022" cy="13030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97022" cy="1303020"/>
            </a:xfrm>
            <a:custGeom>
              <a:avLst/>
              <a:gdLst/>
              <a:ahLst/>
              <a:cxnLst/>
              <a:rect r="r" b="b" t="t" l="l"/>
              <a:pathLst>
                <a:path h="1303020" w="7497022">
                  <a:moveTo>
                    <a:pt x="0" y="0"/>
                  </a:moveTo>
                  <a:lnTo>
                    <a:pt x="7497022" y="0"/>
                  </a:lnTo>
                  <a:lnTo>
                    <a:pt x="7497022" y="1303020"/>
                  </a:lnTo>
                  <a:lnTo>
                    <a:pt x="0" y="13030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709" r="-95149" b="-14684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7497022" cy="13220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b="true" sz="2199" spc="471">
                  <a:solidFill>
                    <a:srgbClr val="1F6738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RETAIL ANALYTICS PROJECT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657728" y="2967990"/>
            <a:ext cx="14813280" cy="2880360"/>
            <a:chOff x="0" y="0"/>
            <a:chExt cx="19751040" cy="38404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751039" cy="3840480"/>
            </a:xfrm>
            <a:custGeom>
              <a:avLst/>
              <a:gdLst/>
              <a:ahLst/>
              <a:cxnLst/>
              <a:rect r="r" b="b" t="t" l="l"/>
              <a:pathLst>
                <a:path h="3840480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3840480"/>
                  </a:lnTo>
                  <a:lnTo>
                    <a:pt x="0" y="3840480"/>
                  </a:lnTo>
                  <a:close/>
                </a:path>
              </a:pathLst>
            </a:custGeom>
            <a:solidFill>
              <a:srgbClr val="C8933E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9751040" cy="3850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900"/>
                </a:lnSpc>
              </a:pPr>
              <a:r>
                <a:rPr lang="en-US" sz="6000" b="true">
                  <a:solidFill>
                    <a:srgbClr val="5F6B7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  </a:t>
              </a:r>
              <a:r>
                <a:rPr lang="en-US" b="true" sz="6000">
                  <a:solidFill>
                    <a:srgbClr val="5F6B7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Retail Sales Analytics Using</a:t>
              </a:r>
            </a:p>
            <a:p>
              <a:pPr algn="l">
                <a:lnSpc>
                  <a:spcPts val="6900"/>
                </a:lnSpc>
              </a:pPr>
              <a:r>
                <a:rPr lang="en-US" b="true" sz="6000">
                  <a:solidFill>
                    <a:srgbClr val="5F6B7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Excel, SQL, Python &amp; Power BI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83970" y="5810250"/>
            <a:ext cx="3055620" cy="38100"/>
            <a:chOff x="0" y="0"/>
            <a:chExt cx="4074160" cy="50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74160" cy="50800"/>
            </a:xfrm>
            <a:custGeom>
              <a:avLst/>
              <a:gdLst/>
              <a:ahLst/>
              <a:cxnLst/>
              <a:rect r="r" b="b" t="t" l="l"/>
              <a:pathLst>
                <a:path h="50800" w="4074160">
                  <a:moveTo>
                    <a:pt x="0" y="0"/>
                  </a:moveTo>
                  <a:lnTo>
                    <a:pt x="4074160" y="508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1512700" r="0" b="-1512700"/>
              </a:stretch>
            </a:blipFill>
            <a:ln w="38100" cap="sq">
              <a:solidFill>
                <a:srgbClr val="C8933E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234440" y="6172200"/>
            <a:ext cx="5486400" cy="480060"/>
            <a:chOff x="0" y="0"/>
            <a:chExt cx="7315200" cy="6400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315200" cy="640080"/>
            </a:xfrm>
            <a:custGeom>
              <a:avLst/>
              <a:gdLst/>
              <a:ahLst/>
              <a:cxnLst/>
              <a:rect r="r" b="b" t="t" l="l"/>
              <a:pathLst>
                <a:path h="6400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731520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i="true">
                  <a:solidFill>
                    <a:srgbClr val="D9E8E6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Presented By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266723" y="5465326"/>
            <a:ext cx="8229600" cy="1186934"/>
            <a:chOff x="0" y="0"/>
            <a:chExt cx="10972800" cy="158257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972800" cy="1582579"/>
            </a:xfrm>
            <a:custGeom>
              <a:avLst/>
              <a:gdLst/>
              <a:ahLst/>
              <a:cxnLst/>
              <a:rect r="r" b="b" t="t" l="l"/>
              <a:pathLst>
                <a:path h="1582579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582579"/>
                  </a:lnTo>
                  <a:lnTo>
                    <a:pt x="0" y="158257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6209" r="0" b="-63988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10972800" cy="16111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5F6B7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S.</a:t>
              </a:r>
              <a:r>
                <a:rPr lang="en-US" b="true" sz="3600">
                  <a:solidFill>
                    <a:srgbClr val="5F6B7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Sripriyadharshini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346448" y="5465326"/>
            <a:ext cx="2920275" cy="1186934"/>
            <a:chOff x="0" y="0"/>
            <a:chExt cx="3893700" cy="158257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893700" cy="1582579"/>
            </a:xfrm>
            <a:custGeom>
              <a:avLst/>
              <a:gdLst/>
              <a:ahLst/>
              <a:cxnLst/>
              <a:rect r="r" b="b" t="t" l="l"/>
              <a:pathLst>
                <a:path h="1582579" w="3893700">
                  <a:moveTo>
                    <a:pt x="0" y="0"/>
                  </a:moveTo>
                  <a:lnTo>
                    <a:pt x="3893700" y="0"/>
                  </a:lnTo>
                  <a:lnTo>
                    <a:pt x="3893700" y="1582579"/>
                  </a:lnTo>
                  <a:lnTo>
                    <a:pt x="0" y="158257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6209" r="-181809" b="-6398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3893700" cy="16016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80"/>
                </a:lnSpc>
              </a:pPr>
              <a:r>
                <a:rPr lang="en-US" sz="3400" b="true">
                  <a:solidFill>
                    <a:srgbClr val="5F6B7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Submitted by :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266723" y="6058793"/>
            <a:ext cx="8229600" cy="1186934"/>
            <a:chOff x="0" y="0"/>
            <a:chExt cx="10972800" cy="158257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972800" cy="1582579"/>
            </a:xfrm>
            <a:custGeom>
              <a:avLst/>
              <a:gdLst/>
              <a:ahLst/>
              <a:cxnLst/>
              <a:rect r="r" b="b" t="t" l="l"/>
              <a:pathLst>
                <a:path h="1582579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582579"/>
                  </a:lnTo>
                  <a:lnTo>
                    <a:pt x="0" y="158257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6209" r="0" b="-63988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10972800" cy="16111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5F6B7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Data Analytics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346448" y="6652260"/>
            <a:ext cx="2920275" cy="1186934"/>
            <a:chOff x="0" y="0"/>
            <a:chExt cx="3893700" cy="158257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893700" cy="1582579"/>
            </a:xfrm>
            <a:custGeom>
              <a:avLst/>
              <a:gdLst/>
              <a:ahLst/>
              <a:cxnLst/>
              <a:rect r="r" b="b" t="t" l="l"/>
              <a:pathLst>
                <a:path h="1582579" w="3893700">
                  <a:moveTo>
                    <a:pt x="0" y="0"/>
                  </a:moveTo>
                  <a:lnTo>
                    <a:pt x="3893700" y="0"/>
                  </a:lnTo>
                  <a:lnTo>
                    <a:pt x="3893700" y="1582579"/>
                  </a:lnTo>
                  <a:lnTo>
                    <a:pt x="0" y="158257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6209" r="-181809" b="-63988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3893700" cy="16016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80"/>
                </a:lnSpc>
              </a:pPr>
              <a:r>
                <a:rPr lang="en-US" sz="3400" b="true">
                  <a:solidFill>
                    <a:srgbClr val="5F6B7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Organization : 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8266723" y="6652260"/>
            <a:ext cx="8229600" cy="1186934"/>
            <a:chOff x="0" y="0"/>
            <a:chExt cx="10972800" cy="158257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972800" cy="1582579"/>
            </a:xfrm>
            <a:custGeom>
              <a:avLst/>
              <a:gdLst/>
              <a:ahLst/>
              <a:cxnLst/>
              <a:rect r="r" b="b" t="t" l="l"/>
              <a:pathLst>
                <a:path h="1582579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582579"/>
                  </a:lnTo>
                  <a:lnTo>
                    <a:pt x="0" y="158257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6209" r="0" b="-63988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10972800" cy="16111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5F6B7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Vinsup Skill Academy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360366" y="6058793"/>
            <a:ext cx="1776921" cy="1186934"/>
            <a:chOff x="0" y="0"/>
            <a:chExt cx="2369228" cy="158257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369228" cy="1582579"/>
            </a:xfrm>
            <a:custGeom>
              <a:avLst/>
              <a:gdLst/>
              <a:ahLst/>
              <a:cxnLst/>
              <a:rect r="r" b="b" t="t" l="l"/>
              <a:pathLst>
                <a:path h="1582579" w="2369228">
                  <a:moveTo>
                    <a:pt x="0" y="0"/>
                  </a:moveTo>
                  <a:lnTo>
                    <a:pt x="2369228" y="0"/>
                  </a:lnTo>
                  <a:lnTo>
                    <a:pt x="2369228" y="1582579"/>
                  </a:lnTo>
                  <a:lnTo>
                    <a:pt x="0" y="158257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6209" r="-363138" b="-6398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2369228" cy="16016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80"/>
                </a:lnSpc>
              </a:pPr>
              <a:r>
                <a:rPr lang="en-US" sz="3400" b="true">
                  <a:solidFill>
                    <a:srgbClr val="5F6B7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Course : 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5400000">
            <a:off x="0" y="7360409"/>
            <a:ext cx="2926591" cy="2926591"/>
            <a:chOff x="0" y="0"/>
            <a:chExt cx="558800" cy="558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0" y="558800"/>
                  </a:moveTo>
                  <a:cubicBezTo>
                    <a:pt x="0" y="411634"/>
                    <a:pt x="59606" y="267731"/>
                    <a:pt x="163669" y="163669"/>
                  </a:cubicBezTo>
                  <a:cubicBezTo>
                    <a:pt x="267731" y="59606"/>
                    <a:pt x="411634" y="0"/>
                    <a:pt x="558800" y="0"/>
                  </a:cubicBezTo>
                  <a:lnTo>
                    <a:pt x="558800" y="558800"/>
                  </a:lnTo>
                  <a:lnTo>
                    <a:pt x="0" y="558800"/>
                  </a:lnTo>
                  <a:close/>
                </a:path>
              </a:pathLst>
            </a:custGeom>
            <a:solidFill>
              <a:srgbClr val="3C565A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165100" y="146050"/>
              <a:ext cx="393700" cy="412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-5400000">
            <a:off x="15361409" y="41399"/>
            <a:ext cx="2926591" cy="2926591"/>
            <a:chOff x="0" y="0"/>
            <a:chExt cx="558800" cy="558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0" y="558800"/>
                  </a:moveTo>
                  <a:cubicBezTo>
                    <a:pt x="0" y="411634"/>
                    <a:pt x="59606" y="267731"/>
                    <a:pt x="163669" y="163669"/>
                  </a:cubicBezTo>
                  <a:cubicBezTo>
                    <a:pt x="267731" y="59606"/>
                    <a:pt x="411634" y="0"/>
                    <a:pt x="558800" y="0"/>
                  </a:cubicBezTo>
                  <a:lnTo>
                    <a:pt x="558800" y="558800"/>
                  </a:lnTo>
                  <a:lnTo>
                    <a:pt x="0" y="558800"/>
                  </a:lnTo>
                  <a:close/>
                </a:path>
              </a:pathLst>
            </a:custGeom>
            <a:solidFill>
              <a:srgbClr val="3C565A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165100" y="146050"/>
              <a:ext cx="393700" cy="412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DE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13716000" cy="822960"/>
            <a:chOff x="0" y="0"/>
            <a:chExt cx="1828800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8288000" cy="1125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26333A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Project Overview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508760"/>
            <a:ext cx="1234440" cy="82296"/>
            <a:chOff x="0" y="0"/>
            <a:chExt cx="1645920" cy="1097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45920" cy="109728"/>
            </a:xfrm>
            <a:custGeom>
              <a:avLst/>
              <a:gdLst/>
              <a:ahLst/>
              <a:cxnLst/>
              <a:rect r="r" b="b" t="t" l="l"/>
              <a:pathLst>
                <a:path h="109728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09728"/>
                  </a:lnTo>
                  <a:lnTo>
                    <a:pt x="0" y="109728"/>
                  </a:lnTo>
                  <a:close/>
                </a:path>
              </a:pathLst>
            </a:custGeom>
            <a:solidFill>
              <a:srgbClr val="C8933E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813435" y="2047875"/>
            <a:ext cx="8385810" cy="7151370"/>
            <a:chOff x="0" y="0"/>
            <a:chExt cx="11181080" cy="9535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181080" cy="9535160"/>
            </a:xfrm>
            <a:custGeom>
              <a:avLst/>
              <a:gdLst/>
              <a:ahLst/>
              <a:cxnLst/>
              <a:rect r="r" b="b" t="t" l="l"/>
              <a:pathLst>
                <a:path h="9535160" w="11181080">
                  <a:moveTo>
                    <a:pt x="0" y="146685"/>
                  </a:moveTo>
                  <a:cubicBezTo>
                    <a:pt x="0" y="65659"/>
                    <a:pt x="65659" y="0"/>
                    <a:pt x="146685" y="0"/>
                  </a:cubicBezTo>
                  <a:lnTo>
                    <a:pt x="11034395" y="0"/>
                  </a:lnTo>
                  <a:cubicBezTo>
                    <a:pt x="11115421" y="0"/>
                    <a:pt x="11181080" y="65659"/>
                    <a:pt x="11181080" y="146685"/>
                  </a:cubicBezTo>
                  <a:lnTo>
                    <a:pt x="11181080" y="9388475"/>
                  </a:lnTo>
                  <a:cubicBezTo>
                    <a:pt x="11181080" y="9469501"/>
                    <a:pt x="11115421" y="9535160"/>
                    <a:pt x="11034395" y="9535160"/>
                  </a:cubicBezTo>
                  <a:lnTo>
                    <a:pt x="146685" y="9535160"/>
                  </a:lnTo>
                  <a:cubicBezTo>
                    <a:pt x="65659" y="9535160"/>
                    <a:pt x="0" y="9469501"/>
                    <a:pt x="0" y="9388475"/>
                  </a:cubicBezTo>
                  <a:close/>
                </a:path>
              </a:pathLst>
            </a:custGeom>
            <a:solidFill>
              <a:srgbClr val="F5F7F6"/>
            </a:solidFill>
            <a:ln w="19050" cap="sq">
              <a:solidFill>
                <a:srgbClr val="E2E6F0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371600" y="2537460"/>
            <a:ext cx="7406640" cy="548640"/>
            <a:chOff x="0" y="0"/>
            <a:chExt cx="9875520" cy="7315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875520" cy="731520"/>
            </a:xfrm>
            <a:custGeom>
              <a:avLst/>
              <a:gdLst/>
              <a:ahLst/>
              <a:cxnLst/>
              <a:rect r="r" b="b" t="t" l="l"/>
              <a:pathLst>
                <a:path h="73152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3048" r="0" b="-213048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98755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19"/>
                </a:lnSpc>
              </a:pPr>
              <a:r>
                <a:rPr lang="en-US" sz="2599" b="true">
                  <a:solidFill>
                    <a:srgbClr val="26333A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What This Project Does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71600" y="3223260"/>
            <a:ext cx="7406640" cy="3017520"/>
            <a:chOff x="0" y="0"/>
            <a:chExt cx="9875520" cy="40233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875520" cy="4023360"/>
            </a:xfrm>
            <a:custGeom>
              <a:avLst/>
              <a:gdLst/>
              <a:ahLst/>
              <a:cxnLst/>
              <a:rect r="r" b="b" t="t" l="l"/>
              <a:pathLst>
                <a:path h="402336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4023360"/>
                  </a:lnTo>
                  <a:lnTo>
                    <a:pt x="0" y="4023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71" t="0" r="-2271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14300"/>
              <a:ext cx="9875520" cy="4137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19"/>
                </a:lnSpc>
              </a:pPr>
              <a:r>
                <a:rPr lang="en-US" sz="2449">
                  <a:solidFill>
                    <a:srgbClr val="5F6B7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This project analyzes retail sales data to understand sales performance, customer behavior, product performance, and revenue trends. The project follows an end-to-end analytics process from data cleaning to dashboard creation.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71600" y="6858000"/>
            <a:ext cx="685800" cy="685800"/>
            <a:chOff x="0" y="0"/>
            <a:chExt cx="914400" cy="914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5897A0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2263140" y="6858000"/>
            <a:ext cx="6446520" cy="428510"/>
            <a:chOff x="0" y="0"/>
            <a:chExt cx="8595360" cy="57134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595360" cy="571347"/>
            </a:xfrm>
            <a:custGeom>
              <a:avLst/>
              <a:gdLst/>
              <a:ahLst/>
              <a:cxnLst/>
              <a:rect r="r" b="b" t="t" l="l"/>
              <a:pathLst>
                <a:path h="571347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571347"/>
                  </a:lnTo>
                  <a:lnTo>
                    <a:pt x="0" y="57134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120" r="0" b="-24114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8595360" cy="5808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79"/>
                </a:lnSpc>
              </a:pPr>
              <a:r>
                <a:rPr lang="en-US" sz="2149" b="true">
                  <a:solidFill>
                    <a:srgbClr val="26333A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End-to-End Analytics Flow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263140" y="7269480"/>
            <a:ext cx="6446520" cy="480060"/>
            <a:chOff x="0" y="0"/>
            <a:chExt cx="8595360" cy="6400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595360" cy="640080"/>
            </a:xfrm>
            <a:custGeom>
              <a:avLst/>
              <a:gdLst/>
              <a:ahLst/>
              <a:cxnLst/>
              <a:rect r="r" b="b" t="t" l="l"/>
              <a:pathLst>
                <a:path h="640080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1656" r="0" b="-211656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859536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sz="1999">
                  <a:solidFill>
                    <a:srgbClr val="5F6B7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Data Cleaning → Storage → Analysis → Visualization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532620" y="2057400"/>
            <a:ext cx="7886700" cy="7132320"/>
            <a:chOff x="0" y="0"/>
            <a:chExt cx="10515600" cy="95097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515600" cy="9509761"/>
            </a:xfrm>
            <a:custGeom>
              <a:avLst/>
              <a:gdLst/>
              <a:ahLst/>
              <a:cxnLst/>
              <a:rect r="r" b="b" t="t" l="l"/>
              <a:pathLst>
                <a:path h="9509761" w="105156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369296" y="0"/>
                  </a:lnTo>
                  <a:cubicBezTo>
                    <a:pt x="10450068" y="0"/>
                    <a:pt x="10515600" y="65532"/>
                    <a:pt x="10515600" y="146304"/>
                  </a:cubicBezTo>
                  <a:lnTo>
                    <a:pt x="10515600" y="9363456"/>
                  </a:lnTo>
                  <a:cubicBezTo>
                    <a:pt x="10515600" y="9444228"/>
                    <a:pt x="10450068" y="9509761"/>
                    <a:pt x="10369296" y="9509761"/>
                  </a:cubicBezTo>
                  <a:lnTo>
                    <a:pt x="146304" y="9509761"/>
                  </a:lnTo>
                  <a:cubicBezTo>
                    <a:pt x="65532" y="9509760"/>
                    <a:pt x="0" y="9444228"/>
                    <a:pt x="0" y="9363456"/>
                  </a:cubicBezTo>
                  <a:close/>
                </a:path>
              </a:pathLst>
            </a:custGeom>
            <a:solidFill>
              <a:srgbClr val="3C565A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0081260" y="2537460"/>
            <a:ext cx="6858000" cy="548640"/>
            <a:chOff x="0" y="0"/>
            <a:chExt cx="9144000" cy="7315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144000" cy="731520"/>
            </a:xfrm>
            <a:custGeom>
              <a:avLst/>
              <a:gdLst/>
              <a:ahLst/>
              <a:cxnLst/>
              <a:rect r="r" b="b" t="t" l="l"/>
              <a:pathLst>
                <a:path h="73152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91440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Objectives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081260" y="3579876"/>
            <a:ext cx="384048" cy="384048"/>
            <a:chOff x="0" y="0"/>
            <a:chExt cx="512064" cy="51206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cubicBezTo>
                    <a:pt x="397383" y="0"/>
                    <a:pt x="512064" y="114681"/>
                    <a:pt x="512064" y="256032"/>
                  </a:cubicBezTo>
                  <a:cubicBezTo>
                    <a:pt x="512064" y="397383"/>
                    <a:pt x="397383" y="512064"/>
                    <a:pt x="256032" y="512064"/>
                  </a:cubicBezTo>
                  <a:cubicBezTo>
                    <a:pt x="114681" y="512064"/>
                    <a:pt x="0" y="397383"/>
                    <a:pt x="0" y="256032"/>
                  </a:cubicBezTo>
                  <a:close/>
                </a:path>
              </a:pathLst>
            </a:custGeom>
            <a:solidFill>
              <a:srgbClr val="C8933E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0081260" y="3579876"/>
            <a:ext cx="384048" cy="384048"/>
            <a:chOff x="0" y="0"/>
            <a:chExt cx="512064" cy="51206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512064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26333A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1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0698480" y="3429000"/>
            <a:ext cx="6446520" cy="685800"/>
            <a:chOff x="0" y="0"/>
            <a:chExt cx="8595360" cy="9144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595360" cy="914400"/>
            </a:xfrm>
            <a:custGeom>
              <a:avLst/>
              <a:gdLst/>
              <a:ahLst/>
              <a:cxnLst/>
              <a:rect r="r" b="b" t="t" l="l"/>
              <a:pathLst>
                <a:path h="914400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159" r="0" b="-133159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859536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39"/>
                </a:lnSpc>
              </a:pPr>
              <a:r>
                <a:rPr lang="en-US" sz="2449">
                  <a:solidFill>
                    <a:srgbClr val="D9E8E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Analyze sales performance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0081260" y="4649724"/>
            <a:ext cx="384048" cy="384048"/>
            <a:chOff x="0" y="0"/>
            <a:chExt cx="512064" cy="51206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cubicBezTo>
                    <a:pt x="397383" y="0"/>
                    <a:pt x="512064" y="114681"/>
                    <a:pt x="512064" y="256032"/>
                  </a:cubicBezTo>
                  <a:cubicBezTo>
                    <a:pt x="512064" y="397383"/>
                    <a:pt x="397383" y="512064"/>
                    <a:pt x="256032" y="512064"/>
                  </a:cubicBezTo>
                  <a:cubicBezTo>
                    <a:pt x="114681" y="512064"/>
                    <a:pt x="0" y="397383"/>
                    <a:pt x="0" y="256032"/>
                  </a:cubicBezTo>
                  <a:close/>
                </a:path>
              </a:pathLst>
            </a:custGeom>
            <a:solidFill>
              <a:srgbClr val="C8933E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0081260" y="4649724"/>
            <a:ext cx="384048" cy="384048"/>
            <a:chOff x="0" y="0"/>
            <a:chExt cx="512064" cy="51206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512064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26333A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0698480" y="4498848"/>
            <a:ext cx="6446520" cy="685800"/>
            <a:chOff x="0" y="0"/>
            <a:chExt cx="8595360" cy="9144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595360" cy="914400"/>
            </a:xfrm>
            <a:custGeom>
              <a:avLst/>
              <a:gdLst/>
              <a:ahLst/>
              <a:cxnLst/>
              <a:rect r="r" b="b" t="t" l="l"/>
              <a:pathLst>
                <a:path h="914400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159" r="0" b="-133159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859536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39"/>
                </a:lnSpc>
              </a:pPr>
              <a:r>
                <a:rPr lang="en-US" sz="2449">
                  <a:solidFill>
                    <a:srgbClr val="D9E8E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Identify top customers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0081260" y="5719572"/>
            <a:ext cx="384048" cy="384048"/>
            <a:chOff x="0" y="0"/>
            <a:chExt cx="512064" cy="51206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cubicBezTo>
                    <a:pt x="397383" y="0"/>
                    <a:pt x="512064" y="114681"/>
                    <a:pt x="512064" y="256032"/>
                  </a:cubicBezTo>
                  <a:cubicBezTo>
                    <a:pt x="512064" y="397383"/>
                    <a:pt x="397383" y="512064"/>
                    <a:pt x="256032" y="512064"/>
                  </a:cubicBezTo>
                  <a:cubicBezTo>
                    <a:pt x="114681" y="512064"/>
                    <a:pt x="0" y="397383"/>
                    <a:pt x="0" y="256032"/>
                  </a:cubicBezTo>
                  <a:close/>
                </a:path>
              </a:pathLst>
            </a:custGeom>
            <a:solidFill>
              <a:srgbClr val="C8933E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0081260" y="5719572"/>
            <a:ext cx="384048" cy="384048"/>
            <a:chOff x="0" y="0"/>
            <a:chExt cx="512064" cy="51206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512064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26333A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3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0698480" y="5568696"/>
            <a:ext cx="6446520" cy="685800"/>
            <a:chOff x="0" y="0"/>
            <a:chExt cx="8595360" cy="9144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595360" cy="914400"/>
            </a:xfrm>
            <a:custGeom>
              <a:avLst/>
              <a:gdLst/>
              <a:ahLst/>
              <a:cxnLst/>
              <a:rect r="r" b="b" t="t" l="l"/>
              <a:pathLst>
                <a:path h="914400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159" r="0" b="-133159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9050"/>
              <a:ext cx="859536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39"/>
                </a:lnSpc>
              </a:pPr>
              <a:r>
                <a:rPr lang="en-US" sz="2449">
                  <a:solidFill>
                    <a:srgbClr val="D9E8E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Monitor inventory and products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0081260" y="6789420"/>
            <a:ext cx="384048" cy="384048"/>
            <a:chOff x="0" y="0"/>
            <a:chExt cx="512064" cy="512064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cubicBezTo>
                    <a:pt x="397383" y="0"/>
                    <a:pt x="512064" y="114681"/>
                    <a:pt x="512064" y="256032"/>
                  </a:cubicBezTo>
                  <a:cubicBezTo>
                    <a:pt x="512064" y="397383"/>
                    <a:pt x="397383" y="512064"/>
                    <a:pt x="256032" y="512064"/>
                  </a:cubicBezTo>
                  <a:cubicBezTo>
                    <a:pt x="114681" y="512064"/>
                    <a:pt x="0" y="397383"/>
                    <a:pt x="0" y="256032"/>
                  </a:cubicBezTo>
                  <a:close/>
                </a:path>
              </a:pathLst>
            </a:custGeom>
            <a:solidFill>
              <a:srgbClr val="C8933E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0081260" y="6789420"/>
            <a:ext cx="384048" cy="384048"/>
            <a:chOff x="0" y="0"/>
            <a:chExt cx="512064" cy="512064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19050"/>
              <a:ext cx="512064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26333A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4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0698480" y="6638544"/>
            <a:ext cx="6446520" cy="685800"/>
            <a:chOff x="0" y="0"/>
            <a:chExt cx="8595360" cy="9144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8595360" cy="914400"/>
            </a:xfrm>
            <a:custGeom>
              <a:avLst/>
              <a:gdLst/>
              <a:ahLst/>
              <a:cxnLst/>
              <a:rect r="r" b="b" t="t" l="l"/>
              <a:pathLst>
                <a:path h="914400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159" r="0" b="-133159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19050"/>
              <a:ext cx="859536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39"/>
                </a:lnSpc>
              </a:pPr>
              <a:r>
                <a:rPr lang="en-US" sz="2449">
                  <a:solidFill>
                    <a:srgbClr val="D9E8E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Segment customers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0081260" y="7859268"/>
            <a:ext cx="384048" cy="384048"/>
            <a:chOff x="0" y="0"/>
            <a:chExt cx="512064" cy="512064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cubicBezTo>
                    <a:pt x="397383" y="0"/>
                    <a:pt x="512064" y="114681"/>
                    <a:pt x="512064" y="256032"/>
                  </a:cubicBezTo>
                  <a:cubicBezTo>
                    <a:pt x="512064" y="397383"/>
                    <a:pt x="397383" y="512064"/>
                    <a:pt x="256032" y="512064"/>
                  </a:cubicBezTo>
                  <a:cubicBezTo>
                    <a:pt x="114681" y="512064"/>
                    <a:pt x="0" y="397383"/>
                    <a:pt x="0" y="256032"/>
                  </a:cubicBezTo>
                  <a:close/>
                </a:path>
              </a:pathLst>
            </a:custGeom>
            <a:solidFill>
              <a:srgbClr val="C8933E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0081260" y="7859268"/>
            <a:ext cx="384048" cy="384048"/>
            <a:chOff x="0" y="0"/>
            <a:chExt cx="512064" cy="512064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19050"/>
              <a:ext cx="512064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26333A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5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0698480" y="7708392"/>
            <a:ext cx="6446520" cy="685800"/>
            <a:chOff x="0" y="0"/>
            <a:chExt cx="8595360" cy="9144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8595360" cy="914400"/>
            </a:xfrm>
            <a:custGeom>
              <a:avLst/>
              <a:gdLst/>
              <a:ahLst/>
              <a:cxnLst/>
              <a:rect r="r" b="b" t="t" l="l"/>
              <a:pathLst>
                <a:path h="914400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159" r="0" b="-133159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19050"/>
              <a:ext cx="859536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39"/>
                </a:lnSpc>
              </a:pPr>
              <a:r>
                <a:rPr lang="en-US" sz="2449">
                  <a:solidFill>
                    <a:srgbClr val="D9E8E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Build an interactive Power BI dashboard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7145000" y="9806940"/>
            <a:ext cx="548640" cy="411480"/>
            <a:chOff x="0" y="0"/>
            <a:chExt cx="731520" cy="5486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19050"/>
              <a:ext cx="73152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F6B7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DE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13716000" cy="822960"/>
            <a:chOff x="0" y="0"/>
            <a:chExt cx="1828800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8288000" cy="1125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26333A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Tools &amp; Technologies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508760"/>
            <a:ext cx="1234440" cy="82296"/>
            <a:chOff x="0" y="0"/>
            <a:chExt cx="1645920" cy="1097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45920" cy="109728"/>
            </a:xfrm>
            <a:custGeom>
              <a:avLst/>
              <a:gdLst/>
              <a:ahLst/>
              <a:cxnLst/>
              <a:rect r="r" b="b" t="t" l="l"/>
              <a:pathLst>
                <a:path h="109728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09728"/>
                  </a:lnTo>
                  <a:lnTo>
                    <a:pt x="0" y="109728"/>
                  </a:lnTo>
                  <a:close/>
                </a:path>
              </a:pathLst>
            </a:custGeom>
            <a:solidFill>
              <a:srgbClr val="C8933E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813435" y="2322195"/>
            <a:ext cx="8111490" cy="3036570"/>
            <a:chOff x="0" y="0"/>
            <a:chExt cx="10815320" cy="40487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815320" cy="4048760"/>
            </a:xfrm>
            <a:custGeom>
              <a:avLst/>
              <a:gdLst/>
              <a:ahLst/>
              <a:cxnLst/>
              <a:rect r="r" b="b" t="t" l="l"/>
              <a:pathLst>
                <a:path h="4048760" w="1081532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10668127" y="0"/>
                  </a:lnTo>
                  <a:cubicBezTo>
                    <a:pt x="10749407" y="0"/>
                    <a:pt x="10815320" y="65913"/>
                    <a:pt x="10815320" y="147193"/>
                  </a:cubicBezTo>
                  <a:lnTo>
                    <a:pt x="10815320" y="3901567"/>
                  </a:lnTo>
                  <a:cubicBezTo>
                    <a:pt x="10815320" y="3982847"/>
                    <a:pt x="10749407" y="4048760"/>
                    <a:pt x="10668127" y="4048760"/>
                  </a:cubicBezTo>
                  <a:lnTo>
                    <a:pt x="147193" y="4048760"/>
                  </a:lnTo>
                  <a:cubicBezTo>
                    <a:pt x="65913" y="4048760"/>
                    <a:pt x="0" y="3982847"/>
                    <a:pt x="0" y="3901567"/>
                  </a:cubicBezTo>
                  <a:close/>
                </a:path>
              </a:pathLst>
            </a:custGeom>
            <a:solidFill>
              <a:srgbClr val="F5F7F6"/>
            </a:solidFill>
            <a:ln w="19050" cap="sq">
              <a:solidFill>
                <a:srgbClr val="E2E6F0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371600" y="2880360"/>
            <a:ext cx="1234440" cy="1234440"/>
            <a:chOff x="0" y="0"/>
            <a:chExt cx="1645920" cy="16459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cubicBezTo>
                    <a:pt x="1277493" y="0"/>
                    <a:pt x="1645920" y="368427"/>
                    <a:pt x="1645920" y="822960"/>
                  </a:cubicBezTo>
                  <a:cubicBezTo>
                    <a:pt x="1645920" y="1277493"/>
                    <a:pt x="1277493" y="1645920"/>
                    <a:pt x="822960" y="1645920"/>
                  </a:cubicBezTo>
                  <a:cubicBezTo>
                    <a:pt x="368427" y="1645920"/>
                    <a:pt x="0" y="1277493"/>
                    <a:pt x="0" y="822960"/>
                  </a:cubicBezTo>
                  <a:close/>
                </a:path>
              </a:pathLst>
            </a:custGeom>
            <a:solidFill>
              <a:srgbClr val="3C565A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373505" y="2880360"/>
            <a:ext cx="1234440" cy="1234440"/>
            <a:chOff x="0" y="0"/>
            <a:chExt cx="1645920" cy="16459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164592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64"/>
                </a:lnSpc>
              </a:pPr>
              <a:r>
                <a:rPr lang="en-US" sz="297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017520" y="2880360"/>
            <a:ext cx="5349240" cy="685800"/>
            <a:chOff x="0" y="0"/>
            <a:chExt cx="7132320" cy="914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132320" cy="914400"/>
            </a:xfrm>
            <a:custGeom>
              <a:avLst/>
              <a:gdLst/>
              <a:ahLst/>
              <a:cxnLst/>
              <a:rect r="r" b="b" t="t" l="l"/>
              <a:pathLst>
                <a:path h="914400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983" r="0" b="-101983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7132320" cy="942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39"/>
                </a:lnSpc>
              </a:pPr>
              <a:r>
                <a:rPr lang="en-US" sz="3199" b="true">
                  <a:solidFill>
                    <a:srgbClr val="26333A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Excel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017520" y="3634740"/>
            <a:ext cx="5349240" cy="1234440"/>
            <a:chOff x="0" y="0"/>
            <a:chExt cx="7132320" cy="16459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1323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435" r="0" b="-3443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7132320" cy="17125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85"/>
                </a:lnSpc>
              </a:pPr>
              <a:r>
                <a:rPr lang="en-US" sz="2299">
                  <a:solidFill>
                    <a:srgbClr val="5F6B7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Data Cleaning &amp; Preparation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591675" y="2322195"/>
            <a:ext cx="8111490" cy="3036570"/>
            <a:chOff x="0" y="0"/>
            <a:chExt cx="10815320" cy="40487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815320" cy="4048760"/>
            </a:xfrm>
            <a:custGeom>
              <a:avLst/>
              <a:gdLst/>
              <a:ahLst/>
              <a:cxnLst/>
              <a:rect r="r" b="b" t="t" l="l"/>
              <a:pathLst>
                <a:path h="4048760" w="1081532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10668127" y="0"/>
                  </a:lnTo>
                  <a:cubicBezTo>
                    <a:pt x="10749407" y="0"/>
                    <a:pt x="10815320" y="65913"/>
                    <a:pt x="10815320" y="147193"/>
                  </a:cubicBezTo>
                  <a:lnTo>
                    <a:pt x="10815320" y="3901567"/>
                  </a:lnTo>
                  <a:cubicBezTo>
                    <a:pt x="10815320" y="3982847"/>
                    <a:pt x="10749407" y="4048760"/>
                    <a:pt x="10668127" y="4048760"/>
                  </a:cubicBezTo>
                  <a:lnTo>
                    <a:pt x="147193" y="4048760"/>
                  </a:lnTo>
                  <a:cubicBezTo>
                    <a:pt x="65913" y="4048760"/>
                    <a:pt x="0" y="3982847"/>
                    <a:pt x="0" y="3901567"/>
                  </a:cubicBezTo>
                  <a:close/>
                </a:path>
              </a:pathLst>
            </a:custGeom>
            <a:solidFill>
              <a:srgbClr val="F5F7F6"/>
            </a:solidFill>
            <a:ln w="19050" cap="sq">
              <a:solidFill>
                <a:srgbClr val="E2E6F0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0149840" y="2880360"/>
            <a:ext cx="1234440" cy="1234440"/>
            <a:chOff x="0" y="0"/>
            <a:chExt cx="1645920" cy="16459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cubicBezTo>
                    <a:pt x="1277493" y="0"/>
                    <a:pt x="1645920" y="368427"/>
                    <a:pt x="1645920" y="822960"/>
                  </a:cubicBezTo>
                  <a:cubicBezTo>
                    <a:pt x="1645920" y="1277493"/>
                    <a:pt x="1277493" y="1645920"/>
                    <a:pt x="822960" y="1645920"/>
                  </a:cubicBezTo>
                  <a:cubicBezTo>
                    <a:pt x="368427" y="1645920"/>
                    <a:pt x="0" y="1277493"/>
                    <a:pt x="0" y="822960"/>
                  </a:cubicBezTo>
                  <a:close/>
                </a:path>
              </a:pathLst>
            </a:custGeom>
            <a:solidFill>
              <a:srgbClr val="3C565A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0149840" y="2880360"/>
            <a:ext cx="1234440" cy="1234440"/>
            <a:chOff x="0" y="0"/>
            <a:chExt cx="1645920" cy="16459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164592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64"/>
                </a:lnSpc>
              </a:pPr>
              <a:r>
                <a:rPr lang="en-US" sz="297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795760" y="2880360"/>
            <a:ext cx="5349240" cy="685800"/>
            <a:chOff x="0" y="0"/>
            <a:chExt cx="7132320" cy="914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132320" cy="914400"/>
            </a:xfrm>
            <a:custGeom>
              <a:avLst/>
              <a:gdLst/>
              <a:ahLst/>
              <a:cxnLst/>
              <a:rect r="r" b="b" t="t" l="l"/>
              <a:pathLst>
                <a:path h="914400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983" r="0" b="-101983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28575"/>
              <a:ext cx="7132320" cy="942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39"/>
                </a:lnSpc>
              </a:pPr>
              <a:r>
                <a:rPr lang="en-US" sz="3199" b="true">
                  <a:solidFill>
                    <a:srgbClr val="26333A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SQL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1795760" y="3634740"/>
            <a:ext cx="5349240" cy="1234440"/>
            <a:chOff x="0" y="0"/>
            <a:chExt cx="7132320" cy="16459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1323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435" r="0" b="-34435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66675"/>
              <a:ext cx="7132320" cy="17125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85"/>
                </a:lnSpc>
              </a:pPr>
              <a:r>
                <a:rPr lang="en-US" sz="2299">
                  <a:solidFill>
                    <a:srgbClr val="5F6B7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Data Storage &amp; Querying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813435" y="6025515"/>
            <a:ext cx="8111490" cy="3036570"/>
            <a:chOff x="0" y="0"/>
            <a:chExt cx="10815320" cy="404876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815320" cy="4048760"/>
            </a:xfrm>
            <a:custGeom>
              <a:avLst/>
              <a:gdLst/>
              <a:ahLst/>
              <a:cxnLst/>
              <a:rect r="r" b="b" t="t" l="l"/>
              <a:pathLst>
                <a:path h="4048760" w="1081532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10668127" y="0"/>
                  </a:lnTo>
                  <a:cubicBezTo>
                    <a:pt x="10749407" y="0"/>
                    <a:pt x="10815320" y="65913"/>
                    <a:pt x="10815320" y="147193"/>
                  </a:cubicBezTo>
                  <a:lnTo>
                    <a:pt x="10815320" y="3901567"/>
                  </a:lnTo>
                  <a:cubicBezTo>
                    <a:pt x="10815320" y="3982847"/>
                    <a:pt x="10749407" y="4048760"/>
                    <a:pt x="10668127" y="4048760"/>
                  </a:cubicBezTo>
                  <a:lnTo>
                    <a:pt x="147193" y="4048760"/>
                  </a:lnTo>
                  <a:cubicBezTo>
                    <a:pt x="65913" y="4048760"/>
                    <a:pt x="0" y="3982847"/>
                    <a:pt x="0" y="3901567"/>
                  </a:cubicBezTo>
                  <a:close/>
                </a:path>
              </a:pathLst>
            </a:custGeom>
            <a:solidFill>
              <a:srgbClr val="F5F7F6"/>
            </a:solidFill>
            <a:ln w="19050" cap="sq">
              <a:solidFill>
                <a:srgbClr val="E2E6F0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371600" y="6583680"/>
            <a:ext cx="1234440" cy="1234440"/>
            <a:chOff x="0" y="0"/>
            <a:chExt cx="1645920" cy="16459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cubicBezTo>
                    <a:pt x="1277493" y="0"/>
                    <a:pt x="1645920" y="368427"/>
                    <a:pt x="1645920" y="822960"/>
                  </a:cubicBezTo>
                  <a:cubicBezTo>
                    <a:pt x="1645920" y="1277493"/>
                    <a:pt x="1277493" y="1645920"/>
                    <a:pt x="822960" y="1645920"/>
                  </a:cubicBezTo>
                  <a:cubicBezTo>
                    <a:pt x="368427" y="1645920"/>
                    <a:pt x="0" y="1277493"/>
                    <a:pt x="0" y="822960"/>
                  </a:cubicBezTo>
                  <a:close/>
                </a:path>
              </a:pathLst>
            </a:custGeom>
            <a:solidFill>
              <a:srgbClr val="3C565A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371600" y="6583680"/>
            <a:ext cx="1234440" cy="1234440"/>
            <a:chOff x="0" y="0"/>
            <a:chExt cx="1645920" cy="16459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164592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64"/>
                </a:lnSpc>
              </a:pPr>
              <a:r>
                <a:rPr lang="en-US" sz="297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3017520" y="6583680"/>
            <a:ext cx="5349240" cy="685800"/>
            <a:chOff x="0" y="0"/>
            <a:chExt cx="7132320" cy="9144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132320" cy="914400"/>
            </a:xfrm>
            <a:custGeom>
              <a:avLst/>
              <a:gdLst/>
              <a:ahLst/>
              <a:cxnLst/>
              <a:rect r="r" b="b" t="t" l="l"/>
              <a:pathLst>
                <a:path h="914400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983" r="0" b="-101983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28575"/>
              <a:ext cx="7132320" cy="942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39"/>
                </a:lnSpc>
              </a:pPr>
              <a:r>
                <a:rPr lang="en-US" sz="3199" b="true">
                  <a:solidFill>
                    <a:srgbClr val="26333A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Python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3017520" y="7338060"/>
            <a:ext cx="5349240" cy="1234440"/>
            <a:chOff x="0" y="0"/>
            <a:chExt cx="7132320" cy="16459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1323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435" r="0" b="-34435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66675"/>
              <a:ext cx="7132320" cy="17125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85"/>
                </a:lnSpc>
              </a:pPr>
              <a:r>
                <a:rPr lang="en-US" sz="2299">
                  <a:solidFill>
                    <a:srgbClr val="5F6B7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EDA &amp; Customer Segmentation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591675" y="6025515"/>
            <a:ext cx="8111490" cy="3036570"/>
            <a:chOff x="0" y="0"/>
            <a:chExt cx="10815320" cy="404876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815320" cy="4048760"/>
            </a:xfrm>
            <a:custGeom>
              <a:avLst/>
              <a:gdLst/>
              <a:ahLst/>
              <a:cxnLst/>
              <a:rect r="r" b="b" t="t" l="l"/>
              <a:pathLst>
                <a:path h="4048760" w="1081532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10668127" y="0"/>
                  </a:lnTo>
                  <a:cubicBezTo>
                    <a:pt x="10749407" y="0"/>
                    <a:pt x="10815320" y="65913"/>
                    <a:pt x="10815320" y="147193"/>
                  </a:cubicBezTo>
                  <a:lnTo>
                    <a:pt x="10815320" y="3901567"/>
                  </a:lnTo>
                  <a:cubicBezTo>
                    <a:pt x="10815320" y="3982847"/>
                    <a:pt x="10749407" y="4048760"/>
                    <a:pt x="10668127" y="4048760"/>
                  </a:cubicBezTo>
                  <a:lnTo>
                    <a:pt x="147193" y="4048760"/>
                  </a:lnTo>
                  <a:cubicBezTo>
                    <a:pt x="65913" y="4048760"/>
                    <a:pt x="0" y="3982847"/>
                    <a:pt x="0" y="3901567"/>
                  </a:cubicBezTo>
                  <a:close/>
                </a:path>
              </a:pathLst>
            </a:custGeom>
            <a:solidFill>
              <a:srgbClr val="F5F7F6"/>
            </a:solidFill>
            <a:ln w="19050" cap="sq">
              <a:solidFill>
                <a:srgbClr val="E2E6F0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10149840" y="6583680"/>
            <a:ext cx="1234440" cy="1234440"/>
            <a:chOff x="0" y="0"/>
            <a:chExt cx="1645920" cy="164592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cubicBezTo>
                    <a:pt x="1277493" y="0"/>
                    <a:pt x="1645920" y="368427"/>
                    <a:pt x="1645920" y="822960"/>
                  </a:cubicBezTo>
                  <a:cubicBezTo>
                    <a:pt x="1645920" y="1277493"/>
                    <a:pt x="1277493" y="1645920"/>
                    <a:pt x="822960" y="1645920"/>
                  </a:cubicBezTo>
                  <a:cubicBezTo>
                    <a:pt x="368427" y="1645920"/>
                    <a:pt x="0" y="1277493"/>
                    <a:pt x="0" y="822960"/>
                  </a:cubicBezTo>
                  <a:close/>
                </a:path>
              </a:pathLst>
            </a:custGeom>
            <a:solidFill>
              <a:srgbClr val="3C565A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0149840" y="6583680"/>
            <a:ext cx="1234440" cy="1234440"/>
            <a:chOff x="0" y="0"/>
            <a:chExt cx="1645920" cy="16459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164592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64"/>
                </a:lnSpc>
              </a:pPr>
              <a:r>
                <a:rPr lang="en-US" sz="297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B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1795760" y="6583680"/>
            <a:ext cx="5349240" cy="685800"/>
            <a:chOff x="0" y="0"/>
            <a:chExt cx="7132320" cy="9144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132320" cy="914400"/>
            </a:xfrm>
            <a:custGeom>
              <a:avLst/>
              <a:gdLst/>
              <a:ahLst/>
              <a:cxnLst/>
              <a:rect r="r" b="b" t="t" l="l"/>
              <a:pathLst>
                <a:path h="914400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983" r="0" b="-101983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28575"/>
              <a:ext cx="7132320" cy="942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39"/>
                </a:lnSpc>
              </a:pPr>
              <a:r>
                <a:rPr lang="en-US" sz="3199" b="true">
                  <a:solidFill>
                    <a:srgbClr val="26333A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Power BI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1795760" y="7338060"/>
            <a:ext cx="5349240" cy="1234440"/>
            <a:chOff x="0" y="0"/>
            <a:chExt cx="7132320" cy="16459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71323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435" r="0" b="-34435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66675"/>
              <a:ext cx="7132320" cy="17125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85"/>
                </a:lnSpc>
              </a:pPr>
              <a:r>
                <a:rPr lang="en-US" sz="2299">
                  <a:solidFill>
                    <a:srgbClr val="5F6B7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Dashboard &amp; Visualization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7145000" y="9806940"/>
            <a:ext cx="548640" cy="411480"/>
            <a:chOff x="0" y="0"/>
            <a:chExt cx="731520" cy="5486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19050"/>
              <a:ext cx="73152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F6B7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DE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48640"/>
            <a:ext cx="13716000" cy="754380"/>
            <a:chOff x="0" y="0"/>
            <a:chExt cx="18288000" cy="1005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4273" r="0" b="-30427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8288000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26333A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Project Workflow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371600"/>
            <a:ext cx="1234440" cy="82296"/>
            <a:chOff x="0" y="0"/>
            <a:chExt cx="1645920" cy="1097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45920" cy="109728"/>
            </a:xfrm>
            <a:custGeom>
              <a:avLst/>
              <a:gdLst/>
              <a:ahLst/>
              <a:cxnLst/>
              <a:rect r="r" b="b" t="t" l="l"/>
              <a:pathLst>
                <a:path h="109728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09728"/>
                  </a:lnTo>
                  <a:lnTo>
                    <a:pt x="0" y="109728"/>
                  </a:lnTo>
                  <a:close/>
                </a:path>
              </a:pathLst>
            </a:custGeom>
            <a:solidFill>
              <a:srgbClr val="C8933E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813435" y="1979295"/>
            <a:ext cx="3256026" cy="6671310"/>
            <a:chOff x="0" y="0"/>
            <a:chExt cx="4341368" cy="88950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341368" cy="8895080"/>
            </a:xfrm>
            <a:custGeom>
              <a:avLst/>
              <a:gdLst/>
              <a:ahLst/>
              <a:cxnLst/>
              <a:rect r="r" b="b" t="t" l="l"/>
              <a:pathLst>
                <a:path h="8895080" w="4341368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4194175" y="0"/>
                  </a:lnTo>
                  <a:cubicBezTo>
                    <a:pt x="4275455" y="0"/>
                    <a:pt x="4341368" y="65913"/>
                    <a:pt x="4341368" y="147193"/>
                  </a:cubicBezTo>
                  <a:lnTo>
                    <a:pt x="4341368" y="8747887"/>
                  </a:lnTo>
                  <a:cubicBezTo>
                    <a:pt x="4341368" y="8829167"/>
                    <a:pt x="4275455" y="8895080"/>
                    <a:pt x="4194175" y="8895080"/>
                  </a:cubicBezTo>
                  <a:lnTo>
                    <a:pt x="147193" y="8895080"/>
                  </a:lnTo>
                  <a:cubicBezTo>
                    <a:pt x="65913" y="8895080"/>
                    <a:pt x="0" y="8829167"/>
                    <a:pt x="0" y="8747887"/>
                  </a:cubicBezTo>
                  <a:close/>
                </a:path>
              </a:pathLst>
            </a:custGeom>
            <a:solidFill>
              <a:srgbClr val="F5F7F6"/>
            </a:solidFill>
            <a:ln w="19050" cap="sq">
              <a:solidFill>
                <a:srgbClr val="E2E6F0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961388" y="2400300"/>
            <a:ext cx="960120" cy="960120"/>
            <a:chOff x="0" y="0"/>
            <a:chExt cx="1280160" cy="12801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3C565A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957197" y="2400300"/>
            <a:ext cx="960120" cy="960120"/>
            <a:chOff x="0" y="0"/>
            <a:chExt cx="1280160" cy="12801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128016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72"/>
                </a:lnSpc>
              </a:pPr>
              <a:r>
                <a:rPr lang="en-US" sz="231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60120" y="4834890"/>
            <a:ext cx="2962656" cy="907616"/>
            <a:chOff x="0" y="0"/>
            <a:chExt cx="3950208" cy="121015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950208" cy="1210154"/>
            </a:xfrm>
            <a:custGeom>
              <a:avLst/>
              <a:gdLst/>
              <a:ahLst/>
              <a:cxnLst/>
              <a:rect r="r" b="b" t="t" l="l"/>
              <a:pathLst>
                <a:path h="1210154" w="3950208">
                  <a:moveTo>
                    <a:pt x="0" y="0"/>
                  </a:moveTo>
                  <a:lnTo>
                    <a:pt x="3950208" y="0"/>
                  </a:lnTo>
                  <a:lnTo>
                    <a:pt x="3950208" y="1210154"/>
                  </a:lnTo>
                  <a:lnTo>
                    <a:pt x="0" y="121015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267" r="0" b="-893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3950208" cy="12292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19"/>
                </a:lnSpc>
              </a:pPr>
              <a:r>
                <a:rPr lang="en-US" sz="2599" b="true">
                  <a:solidFill>
                    <a:srgbClr val="26333A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Raw</a:t>
              </a:r>
            </a:p>
            <a:p>
              <a:pPr algn="ctr">
                <a:lnSpc>
                  <a:spcPts val="3119"/>
                </a:lnSpc>
              </a:pPr>
              <a:r>
                <a:rPr lang="en-US" sz="2599" b="true">
                  <a:solidFill>
                    <a:srgbClr val="26333A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Dataset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991356" y="4972050"/>
            <a:ext cx="411480" cy="685800"/>
            <a:chOff x="0" y="0"/>
            <a:chExt cx="548640" cy="914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48640" cy="914400"/>
            </a:xfrm>
            <a:custGeom>
              <a:avLst/>
              <a:gdLst/>
              <a:ahLst/>
              <a:cxnLst/>
              <a:rect r="r" b="b" t="t" l="l"/>
              <a:pathLst>
                <a:path h="91440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3839" t="0" r="-163839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54864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C8933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→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269867" y="1979295"/>
            <a:ext cx="3256026" cy="6671310"/>
            <a:chOff x="0" y="0"/>
            <a:chExt cx="4341368" cy="88950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341368" cy="8895080"/>
            </a:xfrm>
            <a:custGeom>
              <a:avLst/>
              <a:gdLst/>
              <a:ahLst/>
              <a:cxnLst/>
              <a:rect r="r" b="b" t="t" l="l"/>
              <a:pathLst>
                <a:path h="8895080" w="4341368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4194175" y="0"/>
                  </a:lnTo>
                  <a:cubicBezTo>
                    <a:pt x="4275455" y="0"/>
                    <a:pt x="4341368" y="65913"/>
                    <a:pt x="4341368" y="147193"/>
                  </a:cubicBezTo>
                  <a:lnTo>
                    <a:pt x="4341368" y="8747887"/>
                  </a:lnTo>
                  <a:cubicBezTo>
                    <a:pt x="4341368" y="8829167"/>
                    <a:pt x="4275455" y="8895080"/>
                    <a:pt x="4194175" y="8895080"/>
                  </a:cubicBezTo>
                  <a:lnTo>
                    <a:pt x="147193" y="8895080"/>
                  </a:lnTo>
                  <a:cubicBezTo>
                    <a:pt x="65913" y="8895080"/>
                    <a:pt x="0" y="8829167"/>
                    <a:pt x="0" y="8747887"/>
                  </a:cubicBezTo>
                  <a:close/>
                </a:path>
              </a:pathLst>
            </a:custGeom>
            <a:solidFill>
              <a:srgbClr val="F5F7F6"/>
            </a:solidFill>
            <a:ln w="19050" cap="sq">
              <a:solidFill>
                <a:srgbClr val="E2E6F0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5417820" y="2400300"/>
            <a:ext cx="960120" cy="960120"/>
            <a:chOff x="0" y="0"/>
            <a:chExt cx="1280160" cy="12801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3C565A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5413629" y="2396490"/>
            <a:ext cx="960120" cy="960120"/>
            <a:chOff x="0" y="0"/>
            <a:chExt cx="1280160" cy="12801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128016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72"/>
                </a:lnSpc>
              </a:pPr>
              <a:r>
                <a:rPr lang="en-US" b="true" sz="2310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1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4416552" y="3566160"/>
            <a:ext cx="2962656" cy="822960"/>
            <a:chOff x="0" y="0"/>
            <a:chExt cx="3950208" cy="10972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950208" cy="1097280"/>
            </a:xfrm>
            <a:custGeom>
              <a:avLst/>
              <a:gdLst/>
              <a:ahLst/>
              <a:cxnLst/>
              <a:rect r="r" b="b" t="t" l="l"/>
              <a:pathLst>
                <a:path h="1097280" w="3950208">
                  <a:moveTo>
                    <a:pt x="0" y="0"/>
                  </a:moveTo>
                  <a:lnTo>
                    <a:pt x="3950208" y="0"/>
                  </a:lnTo>
                  <a:lnTo>
                    <a:pt x="3950208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146" r="0" b="-20146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3950208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19"/>
                </a:lnSpc>
              </a:pPr>
              <a:r>
                <a:rPr lang="en-US" sz="2599" b="true">
                  <a:solidFill>
                    <a:srgbClr val="26333A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Excel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4526280" y="4594860"/>
            <a:ext cx="2743200" cy="754380"/>
            <a:chOff x="0" y="0"/>
            <a:chExt cx="3657600" cy="10058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6576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54" r="0" b="-20854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365760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3"/>
                </a:lnSpc>
              </a:pPr>
              <a:r>
                <a:rPr lang="en-US" sz="1924">
                  <a:solidFill>
                    <a:srgbClr val="5F6B7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Missing values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4526280" y="5445252"/>
            <a:ext cx="2743200" cy="754380"/>
            <a:chOff x="0" y="0"/>
            <a:chExt cx="3657600" cy="10058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6576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54" r="0" b="-20854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365760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3"/>
                </a:lnSpc>
              </a:pPr>
              <a:r>
                <a:rPr lang="en-US" sz="1924">
                  <a:solidFill>
                    <a:srgbClr val="5F6B7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Duplicate removal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7447788" y="4972050"/>
            <a:ext cx="411480" cy="685800"/>
            <a:chOff x="0" y="0"/>
            <a:chExt cx="548640" cy="9144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48640" cy="914400"/>
            </a:xfrm>
            <a:custGeom>
              <a:avLst/>
              <a:gdLst/>
              <a:ahLst/>
              <a:cxnLst/>
              <a:rect r="r" b="b" t="t" l="l"/>
              <a:pathLst>
                <a:path h="91440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3839" t="0" r="-163839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54864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C8933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→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7726299" y="1979295"/>
            <a:ext cx="3256026" cy="6671310"/>
            <a:chOff x="0" y="0"/>
            <a:chExt cx="4341368" cy="889508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341368" cy="8895080"/>
            </a:xfrm>
            <a:custGeom>
              <a:avLst/>
              <a:gdLst/>
              <a:ahLst/>
              <a:cxnLst/>
              <a:rect r="r" b="b" t="t" l="l"/>
              <a:pathLst>
                <a:path h="8895080" w="4341368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4194175" y="0"/>
                  </a:lnTo>
                  <a:cubicBezTo>
                    <a:pt x="4275455" y="0"/>
                    <a:pt x="4341368" y="65913"/>
                    <a:pt x="4341368" y="147193"/>
                  </a:cubicBezTo>
                  <a:lnTo>
                    <a:pt x="4341368" y="8747887"/>
                  </a:lnTo>
                  <a:cubicBezTo>
                    <a:pt x="4341368" y="8829167"/>
                    <a:pt x="4275455" y="8895080"/>
                    <a:pt x="4194175" y="8895080"/>
                  </a:cubicBezTo>
                  <a:lnTo>
                    <a:pt x="147193" y="8895080"/>
                  </a:lnTo>
                  <a:cubicBezTo>
                    <a:pt x="65913" y="8895080"/>
                    <a:pt x="0" y="8829167"/>
                    <a:pt x="0" y="8747887"/>
                  </a:cubicBezTo>
                  <a:close/>
                </a:path>
              </a:pathLst>
            </a:custGeom>
            <a:solidFill>
              <a:srgbClr val="F5F7F6"/>
            </a:solidFill>
            <a:ln w="19050" cap="sq">
              <a:solidFill>
                <a:srgbClr val="E2E6F0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8874252" y="2400300"/>
            <a:ext cx="960120" cy="960120"/>
            <a:chOff x="0" y="0"/>
            <a:chExt cx="1280160" cy="12801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3C565A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8870061" y="2396490"/>
            <a:ext cx="960120" cy="960120"/>
            <a:chOff x="0" y="0"/>
            <a:chExt cx="1280160" cy="128016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19050"/>
              <a:ext cx="128016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72"/>
                </a:lnSpc>
              </a:pPr>
              <a:r>
                <a:rPr lang="en-US" b="true" sz="2310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7872984" y="3566160"/>
            <a:ext cx="2962656" cy="822960"/>
            <a:chOff x="0" y="0"/>
            <a:chExt cx="3950208" cy="109728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950208" cy="1097280"/>
            </a:xfrm>
            <a:custGeom>
              <a:avLst/>
              <a:gdLst/>
              <a:ahLst/>
              <a:cxnLst/>
              <a:rect r="r" b="b" t="t" l="l"/>
              <a:pathLst>
                <a:path h="1097280" w="3950208">
                  <a:moveTo>
                    <a:pt x="0" y="0"/>
                  </a:moveTo>
                  <a:lnTo>
                    <a:pt x="3950208" y="0"/>
                  </a:lnTo>
                  <a:lnTo>
                    <a:pt x="3950208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146" r="0" b="-20146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3950208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19"/>
                </a:lnSpc>
              </a:pPr>
              <a:r>
                <a:rPr lang="en-US" sz="2599" b="true">
                  <a:solidFill>
                    <a:srgbClr val="26333A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SQL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7982712" y="4594860"/>
            <a:ext cx="2743200" cy="754380"/>
            <a:chOff x="0" y="0"/>
            <a:chExt cx="3657600" cy="100584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6576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54" r="0" b="-20854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9050"/>
              <a:ext cx="365760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3"/>
                </a:lnSpc>
              </a:pPr>
              <a:r>
                <a:rPr lang="en-US" sz="1924">
                  <a:solidFill>
                    <a:srgbClr val="5F6B7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Create tables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7982712" y="5445252"/>
            <a:ext cx="2743200" cy="754380"/>
            <a:chOff x="0" y="0"/>
            <a:chExt cx="3657600" cy="10058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6576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54" r="0" b="-20854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19050"/>
              <a:ext cx="365760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3"/>
                </a:lnSpc>
              </a:pPr>
              <a:r>
                <a:rPr lang="en-US" sz="1924">
                  <a:solidFill>
                    <a:srgbClr val="5F6B7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Import data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7982712" y="6295644"/>
            <a:ext cx="2743200" cy="754380"/>
            <a:chOff x="0" y="0"/>
            <a:chExt cx="3657600" cy="100584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6576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54" r="0" b="-20854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19050"/>
              <a:ext cx="365760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3"/>
                </a:lnSpc>
              </a:pPr>
              <a:r>
                <a:rPr lang="en-US" sz="1924">
                  <a:solidFill>
                    <a:srgbClr val="5F6B7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SQL queries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0904220" y="4972050"/>
            <a:ext cx="411480" cy="685800"/>
            <a:chOff x="0" y="0"/>
            <a:chExt cx="548640" cy="9144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48640" cy="914400"/>
            </a:xfrm>
            <a:custGeom>
              <a:avLst/>
              <a:gdLst/>
              <a:ahLst/>
              <a:cxnLst/>
              <a:rect r="r" b="b" t="t" l="l"/>
              <a:pathLst>
                <a:path h="91440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3839" t="0" r="-163839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19050"/>
              <a:ext cx="54864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C8933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→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1182731" y="1979295"/>
            <a:ext cx="3256026" cy="6671310"/>
            <a:chOff x="0" y="0"/>
            <a:chExt cx="4341368" cy="889508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4341368" cy="8895080"/>
            </a:xfrm>
            <a:custGeom>
              <a:avLst/>
              <a:gdLst/>
              <a:ahLst/>
              <a:cxnLst/>
              <a:rect r="r" b="b" t="t" l="l"/>
              <a:pathLst>
                <a:path h="8895080" w="4341368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4194175" y="0"/>
                  </a:lnTo>
                  <a:cubicBezTo>
                    <a:pt x="4275455" y="0"/>
                    <a:pt x="4341368" y="65913"/>
                    <a:pt x="4341368" y="147193"/>
                  </a:cubicBezTo>
                  <a:lnTo>
                    <a:pt x="4341368" y="8747887"/>
                  </a:lnTo>
                  <a:cubicBezTo>
                    <a:pt x="4341368" y="8829167"/>
                    <a:pt x="4275455" y="8895080"/>
                    <a:pt x="4194175" y="8895080"/>
                  </a:cubicBezTo>
                  <a:lnTo>
                    <a:pt x="147193" y="8895080"/>
                  </a:lnTo>
                  <a:cubicBezTo>
                    <a:pt x="65913" y="8895080"/>
                    <a:pt x="0" y="8829167"/>
                    <a:pt x="0" y="8747887"/>
                  </a:cubicBezTo>
                  <a:close/>
                </a:path>
              </a:pathLst>
            </a:custGeom>
            <a:solidFill>
              <a:srgbClr val="F5F7F6"/>
            </a:solidFill>
            <a:ln w="19050" cap="sq">
              <a:solidFill>
                <a:srgbClr val="E2E6F0"/>
              </a:solidFill>
              <a:prstDash val="solid"/>
              <a:miter/>
            </a:ln>
          </p:spPr>
        </p:sp>
      </p:grpSp>
      <p:grpSp>
        <p:nvGrpSpPr>
          <p:cNvPr name="Group 63" id="63"/>
          <p:cNvGrpSpPr/>
          <p:nvPr/>
        </p:nvGrpSpPr>
        <p:grpSpPr>
          <a:xfrm rot="0">
            <a:off x="12330684" y="2400300"/>
            <a:ext cx="960120" cy="960120"/>
            <a:chOff x="0" y="0"/>
            <a:chExt cx="1280160" cy="128016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3C565A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2325350" y="2396490"/>
            <a:ext cx="960120" cy="960120"/>
            <a:chOff x="0" y="0"/>
            <a:chExt cx="1280160" cy="128016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19050"/>
              <a:ext cx="128016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72"/>
                </a:lnSpc>
              </a:pPr>
              <a:r>
                <a:rPr lang="en-US" b="true" sz="2310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3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1329416" y="3566160"/>
            <a:ext cx="2962656" cy="822960"/>
            <a:chOff x="0" y="0"/>
            <a:chExt cx="3950208" cy="109728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950208" cy="1097280"/>
            </a:xfrm>
            <a:custGeom>
              <a:avLst/>
              <a:gdLst/>
              <a:ahLst/>
              <a:cxnLst/>
              <a:rect r="r" b="b" t="t" l="l"/>
              <a:pathLst>
                <a:path h="1097280" w="3950208">
                  <a:moveTo>
                    <a:pt x="0" y="0"/>
                  </a:moveTo>
                  <a:lnTo>
                    <a:pt x="3950208" y="0"/>
                  </a:lnTo>
                  <a:lnTo>
                    <a:pt x="3950208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146" r="0" b="-20146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19050"/>
              <a:ext cx="3950208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19"/>
                </a:lnSpc>
              </a:pPr>
              <a:r>
                <a:rPr lang="en-US" sz="2599" b="true">
                  <a:solidFill>
                    <a:srgbClr val="26333A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Python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1439144" y="4594860"/>
            <a:ext cx="2743200" cy="754380"/>
            <a:chOff x="0" y="0"/>
            <a:chExt cx="3657600" cy="100584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36576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54" r="0" b="-20854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19050"/>
              <a:ext cx="365760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3"/>
                </a:lnSpc>
              </a:pPr>
              <a:r>
                <a:rPr lang="en-US" sz="1924">
                  <a:solidFill>
                    <a:srgbClr val="5F6B7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EDA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1439144" y="5445252"/>
            <a:ext cx="2743200" cy="754380"/>
            <a:chOff x="0" y="0"/>
            <a:chExt cx="3657600" cy="100584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36576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54" r="0" b="-20854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19050"/>
              <a:ext cx="365760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3"/>
                </a:lnSpc>
              </a:pPr>
              <a:r>
                <a:rPr lang="en-US" sz="1924">
                  <a:solidFill>
                    <a:srgbClr val="5F6B7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RFM analysis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1439144" y="6295644"/>
            <a:ext cx="2743200" cy="754380"/>
            <a:chOff x="0" y="0"/>
            <a:chExt cx="3657600" cy="100584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36576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54" r="0" b="-20854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19050"/>
              <a:ext cx="365760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3"/>
                </a:lnSpc>
              </a:pPr>
              <a:r>
                <a:rPr lang="en-US" sz="1924">
                  <a:solidFill>
                    <a:srgbClr val="5F6B7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Segmentation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4360652" y="4972050"/>
            <a:ext cx="411480" cy="685800"/>
            <a:chOff x="0" y="0"/>
            <a:chExt cx="548640" cy="9144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48640" cy="914400"/>
            </a:xfrm>
            <a:custGeom>
              <a:avLst/>
              <a:gdLst/>
              <a:ahLst/>
              <a:cxnLst/>
              <a:rect r="r" b="b" t="t" l="l"/>
              <a:pathLst>
                <a:path h="91440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3839" t="0" r="-163839" b="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19050"/>
              <a:ext cx="54864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C8933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→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4639163" y="1979295"/>
            <a:ext cx="3256026" cy="6671310"/>
            <a:chOff x="0" y="0"/>
            <a:chExt cx="4341368" cy="889508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4341368" cy="8895080"/>
            </a:xfrm>
            <a:custGeom>
              <a:avLst/>
              <a:gdLst/>
              <a:ahLst/>
              <a:cxnLst/>
              <a:rect r="r" b="b" t="t" l="l"/>
              <a:pathLst>
                <a:path h="8895080" w="4341368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4194175" y="0"/>
                  </a:lnTo>
                  <a:cubicBezTo>
                    <a:pt x="4275455" y="0"/>
                    <a:pt x="4341368" y="65913"/>
                    <a:pt x="4341368" y="147193"/>
                  </a:cubicBezTo>
                  <a:lnTo>
                    <a:pt x="4341368" y="8747887"/>
                  </a:lnTo>
                  <a:cubicBezTo>
                    <a:pt x="4341368" y="8829167"/>
                    <a:pt x="4275455" y="8895080"/>
                    <a:pt x="4194175" y="8895080"/>
                  </a:cubicBezTo>
                  <a:lnTo>
                    <a:pt x="147193" y="8895080"/>
                  </a:lnTo>
                  <a:cubicBezTo>
                    <a:pt x="65913" y="8895080"/>
                    <a:pt x="0" y="8829167"/>
                    <a:pt x="0" y="8747887"/>
                  </a:cubicBezTo>
                  <a:close/>
                </a:path>
              </a:pathLst>
            </a:custGeom>
            <a:solidFill>
              <a:srgbClr val="F5F7F6"/>
            </a:solidFill>
            <a:ln w="19050" cap="sq">
              <a:solidFill>
                <a:srgbClr val="E2E6F0"/>
              </a:solidFill>
              <a:prstDash val="solid"/>
              <a:miter/>
            </a:ln>
          </p:spPr>
        </p:sp>
      </p:grpSp>
      <p:grpSp>
        <p:nvGrpSpPr>
          <p:cNvPr name="Group 85" id="85"/>
          <p:cNvGrpSpPr/>
          <p:nvPr/>
        </p:nvGrpSpPr>
        <p:grpSpPr>
          <a:xfrm rot="0">
            <a:off x="15787116" y="2400300"/>
            <a:ext cx="960120" cy="960120"/>
            <a:chOff x="0" y="0"/>
            <a:chExt cx="1280160" cy="128016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3C565A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15781782" y="2396490"/>
            <a:ext cx="960120" cy="960120"/>
            <a:chOff x="0" y="0"/>
            <a:chExt cx="1280160" cy="128016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19050"/>
              <a:ext cx="128016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72"/>
                </a:lnSpc>
              </a:pPr>
              <a:r>
                <a:rPr lang="en-US" b="true" sz="2310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4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4785848" y="3566160"/>
            <a:ext cx="2962656" cy="822960"/>
            <a:chOff x="0" y="0"/>
            <a:chExt cx="3950208" cy="109728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3950208" cy="1097280"/>
            </a:xfrm>
            <a:custGeom>
              <a:avLst/>
              <a:gdLst/>
              <a:ahLst/>
              <a:cxnLst/>
              <a:rect r="r" b="b" t="t" l="l"/>
              <a:pathLst>
                <a:path h="1097280" w="3950208">
                  <a:moveTo>
                    <a:pt x="0" y="0"/>
                  </a:moveTo>
                  <a:lnTo>
                    <a:pt x="3950208" y="0"/>
                  </a:lnTo>
                  <a:lnTo>
                    <a:pt x="3950208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146" r="0" b="-20146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19050"/>
              <a:ext cx="3950208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19"/>
                </a:lnSpc>
              </a:pPr>
              <a:r>
                <a:rPr lang="en-US" sz="2599" b="true">
                  <a:solidFill>
                    <a:srgbClr val="26333A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Power BI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4895576" y="4594860"/>
            <a:ext cx="2743200" cy="754380"/>
            <a:chOff x="0" y="0"/>
            <a:chExt cx="3657600" cy="100584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36576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54" r="0" b="-20854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19050"/>
              <a:ext cx="365760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3"/>
                </a:lnSpc>
              </a:pPr>
              <a:r>
                <a:rPr lang="en-US" sz="1924">
                  <a:solidFill>
                    <a:srgbClr val="5F6B7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Interactive dashboard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14895576" y="5445252"/>
            <a:ext cx="2743200" cy="754380"/>
            <a:chOff x="0" y="0"/>
            <a:chExt cx="3657600" cy="100584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36576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54" r="0" b="-20854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19050"/>
              <a:ext cx="365760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3"/>
                </a:lnSpc>
              </a:pPr>
              <a:r>
                <a:rPr lang="en-US" sz="1924">
                  <a:solidFill>
                    <a:srgbClr val="5F6B7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Business insights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17145000" y="9806940"/>
            <a:ext cx="548640" cy="411480"/>
            <a:chOff x="0" y="0"/>
            <a:chExt cx="731520" cy="54864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19050"/>
              <a:ext cx="73152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F6B7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DE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4937760" cy="10287000"/>
            <a:chOff x="0" y="0"/>
            <a:chExt cx="658368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58368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3C565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77340" y="3566160"/>
            <a:ext cx="1783080" cy="1783080"/>
            <a:chOff x="0" y="0"/>
            <a:chExt cx="2377440" cy="23774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77440" cy="2377440"/>
            </a:xfrm>
            <a:custGeom>
              <a:avLst/>
              <a:gdLst/>
              <a:ahLst/>
              <a:cxnLst/>
              <a:rect r="r" b="b" t="t" l="l"/>
              <a:pathLst>
                <a:path h="2377440" w="2377440">
                  <a:moveTo>
                    <a:pt x="0" y="1188720"/>
                  </a:moveTo>
                  <a:cubicBezTo>
                    <a:pt x="0" y="532257"/>
                    <a:pt x="532257" y="0"/>
                    <a:pt x="1188720" y="0"/>
                  </a:cubicBezTo>
                  <a:cubicBezTo>
                    <a:pt x="1845183" y="0"/>
                    <a:pt x="2377440" y="532257"/>
                    <a:pt x="2377440" y="1188720"/>
                  </a:cubicBezTo>
                  <a:cubicBezTo>
                    <a:pt x="2377440" y="1845183"/>
                    <a:pt x="1845183" y="2377440"/>
                    <a:pt x="1188720" y="2377440"/>
                  </a:cubicBezTo>
                  <a:cubicBezTo>
                    <a:pt x="532257" y="2377440"/>
                    <a:pt x="0" y="1845183"/>
                    <a:pt x="0" y="1188720"/>
                  </a:cubicBezTo>
                  <a:close/>
                </a:path>
              </a:pathLst>
            </a:custGeom>
            <a:solidFill>
              <a:srgbClr val="C8933E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77340" y="3566160"/>
            <a:ext cx="1783080" cy="1783080"/>
            <a:chOff x="0" y="0"/>
            <a:chExt cx="2377440" cy="23774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77440" cy="2377440"/>
            </a:xfrm>
            <a:custGeom>
              <a:avLst/>
              <a:gdLst/>
              <a:ahLst/>
              <a:cxnLst/>
              <a:rect r="r" b="b" t="t" l="l"/>
              <a:pathLst>
                <a:path h="2377440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2377440" cy="2396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387"/>
                </a:lnSpc>
              </a:pPr>
              <a:r>
                <a:rPr lang="en-US" sz="4489" b="true">
                  <a:solidFill>
                    <a:srgbClr val="26333A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48640" y="5623560"/>
            <a:ext cx="3840480" cy="1645920"/>
            <a:chOff x="0" y="0"/>
            <a:chExt cx="5120640" cy="21945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120640" cy="2194560"/>
            </a:xfrm>
            <a:custGeom>
              <a:avLst/>
              <a:gdLst/>
              <a:ahLst/>
              <a:cxnLst/>
              <a:rect r="r" b="b" t="t" l="l"/>
              <a:pathLst>
                <a:path h="21945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5120640" cy="22136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136"/>
                </a:lnSpc>
              </a:pPr>
              <a:r>
                <a:rPr lang="en-US" sz="3499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Excel Data</a:t>
              </a:r>
            </a:p>
            <a:p>
              <a:pPr algn="ctr">
                <a:lnSpc>
                  <a:spcPts val="4136"/>
                </a:lnSpc>
              </a:pPr>
              <a:r>
                <a:rPr lang="en-US" sz="3499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Cleaning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545455" y="1773555"/>
            <a:ext cx="11883390" cy="951738"/>
            <a:chOff x="0" y="0"/>
            <a:chExt cx="15844520" cy="126898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844520" cy="1268984"/>
            </a:xfrm>
            <a:custGeom>
              <a:avLst/>
              <a:gdLst/>
              <a:ahLst/>
              <a:cxnLst/>
              <a:rect r="r" b="b" t="t" l="l"/>
              <a:pathLst>
                <a:path h="1268984" w="15844520">
                  <a:moveTo>
                    <a:pt x="0" y="112014"/>
                  </a:moveTo>
                  <a:cubicBezTo>
                    <a:pt x="0" y="50165"/>
                    <a:pt x="50165" y="0"/>
                    <a:pt x="112014" y="0"/>
                  </a:cubicBezTo>
                  <a:lnTo>
                    <a:pt x="15732506" y="0"/>
                  </a:lnTo>
                  <a:cubicBezTo>
                    <a:pt x="15794355" y="0"/>
                    <a:pt x="15844520" y="50165"/>
                    <a:pt x="15844520" y="112014"/>
                  </a:cubicBezTo>
                  <a:lnTo>
                    <a:pt x="15844520" y="1156970"/>
                  </a:lnTo>
                  <a:cubicBezTo>
                    <a:pt x="15844520" y="1218819"/>
                    <a:pt x="15794355" y="1268984"/>
                    <a:pt x="15732506" y="1268984"/>
                  </a:cubicBezTo>
                  <a:lnTo>
                    <a:pt x="112014" y="1268984"/>
                  </a:lnTo>
                  <a:cubicBezTo>
                    <a:pt x="50165" y="1268984"/>
                    <a:pt x="0" y="1218819"/>
                    <a:pt x="0" y="1156970"/>
                  </a:cubicBezTo>
                  <a:close/>
                </a:path>
              </a:pathLst>
            </a:custGeom>
            <a:solidFill>
              <a:srgbClr val="F5F7F6"/>
            </a:solidFill>
            <a:ln w="19050" cap="sq">
              <a:solidFill>
                <a:srgbClr val="E2E6F0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5897880" y="2084832"/>
            <a:ext cx="329184" cy="329184"/>
            <a:chOff x="0" y="0"/>
            <a:chExt cx="438912" cy="43891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C8933E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515100" y="1783080"/>
            <a:ext cx="10629900" cy="932688"/>
            <a:chOff x="0" y="0"/>
            <a:chExt cx="14173200" cy="124358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173200" cy="1243584"/>
            </a:xfrm>
            <a:custGeom>
              <a:avLst/>
              <a:gdLst/>
              <a:ahLst/>
              <a:cxnLst/>
              <a:rect r="r" b="b" t="t" l="l"/>
              <a:pathLst>
                <a:path h="1243584" w="14173200">
                  <a:moveTo>
                    <a:pt x="0" y="0"/>
                  </a:moveTo>
                  <a:lnTo>
                    <a:pt x="14173200" y="0"/>
                  </a:lnTo>
                  <a:lnTo>
                    <a:pt x="14173200" y="1243584"/>
                  </a:lnTo>
                  <a:lnTo>
                    <a:pt x="0" y="1243584"/>
                  </a:lnTo>
                  <a:close/>
                </a:path>
              </a:pathLst>
            </a:custGeom>
            <a:solidFill>
              <a:srgbClr val="F5F7F6">
                <a:alpha val="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14173200" cy="12626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39"/>
                </a:lnSpc>
              </a:pPr>
              <a:r>
                <a:rPr lang="en-US" sz="2449">
                  <a:solidFill>
                    <a:srgbClr val="26333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Standardized column names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545455" y="2939415"/>
            <a:ext cx="11883390" cy="951738"/>
            <a:chOff x="0" y="0"/>
            <a:chExt cx="15844520" cy="126898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5844520" cy="1268984"/>
            </a:xfrm>
            <a:custGeom>
              <a:avLst/>
              <a:gdLst/>
              <a:ahLst/>
              <a:cxnLst/>
              <a:rect r="r" b="b" t="t" l="l"/>
              <a:pathLst>
                <a:path h="1268984" w="15844520">
                  <a:moveTo>
                    <a:pt x="0" y="112014"/>
                  </a:moveTo>
                  <a:cubicBezTo>
                    <a:pt x="0" y="50165"/>
                    <a:pt x="50165" y="0"/>
                    <a:pt x="112014" y="0"/>
                  </a:cubicBezTo>
                  <a:lnTo>
                    <a:pt x="15732506" y="0"/>
                  </a:lnTo>
                  <a:cubicBezTo>
                    <a:pt x="15794355" y="0"/>
                    <a:pt x="15844520" y="50165"/>
                    <a:pt x="15844520" y="112014"/>
                  </a:cubicBezTo>
                  <a:lnTo>
                    <a:pt x="15844520" y="1156970"/>
                  </a:lnTo>
                  <a:cubicBezTo>
                    <a:pt x="15844520" y="1218819"/>
                    <a:pt x="15794355" y="1268984"/>
                    <a:pt x="15732506" y="1268984"/>
                  </a:cubicBezTo>
                  <a:lnTo>
                    <a:pt x="112014" y="1268984"/>
                  </a:lnTo>
                  <a:cubicBezTo>
                    <a:pt x="50165" y="1268984"/>
                    <a:pt x="0" y="1218819"/>
                    <a:pt x="0" y="1156970"/>
                  </a:cubicBezTo>
                  <a:close/>
                </a:path>
              </a:pathLst>
            </a:custGeom>
            <a:solidFill>
              <a:srgbClr val="F5F7F6"/>
            </a:solidFill>
            <a:ln w="19050" cap="sq">
              <a:solidFill>
                <a:srgbClr val="E2E6F0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5897880" y="3250692"/>
            <a:ext cx="329184" cy="329184"/>
            <a:chOff x="0" y="0"/>
            <a:chExt cx="438912" cy="43891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C8933E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6515100" y="2948940"/>
            <a:ext cx="10629900" cy="932688"/>
            <a:chOff x="0" y="0"/>
            <a:chExt cx="14173200" cy="124358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4173200" cy="1243584"/>
            </a:xfrm>
            <a:custGeom>
              <a:avLst/>
              <a:gdLst/>
              <a:ahLst/>
              <a:cxnLst/>
              <a:rect r="r" b="b" t="t" l="l"/>
              <a:pathLst>
                <a:path h="1243584" w="14173200">
                  <a:moveTo>
                    <a:pt x="0" y="0"/>
                  </a:moveTo>
                  <a:lnTo>
                    <a:pt x="14173200" y="0"/>
                  </a:lnTo>
                  <a:lnTo>
                    <a:pt x="14173200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072" r="0" b="-172072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14173200" cy="12626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39"/>
                </a:lnSpc>
              </a:pPr>
              <a:r>
                <a:rPr lang="en-US" sz="2449">
                  <a:solidFill>
                    <a:srgbClr val="26333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Removed duplicate records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545455" y="4105275"/>
            <a:ext cx="11883390" cy="951738"/>
            <a:chOff x="0" y="0"/>
            <a:chExt cx="15844520" cy="126898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5844520" cy="1268984"/>
            </a:xfrm>
            <a:custGeom>
              <a:avLst/>
              <a:gdLst/>
              <a:ahLst/>
              <a:cxnLst/>
              <a:rect r="r" b="b" t="t" l="l"/>
              <a:pathLst>
                <a:path h="1268984" w="15844520">
                  <a:moveTo>
                    <a:pt x="0" y="112014"/>
                  </a:moveTo>
                  <a:cubicBezTo>
                    <a:pt x="0" y="50165"/>
                    <a:pt x="50165" y="0"/>
                    <a:pt x="112014" y="0"/>
                  </a:cubicBezTo>
                  <a:lnTo>
                    <a:pt x="15732506" y="0"/>
                  </a:lnTo>
                  <a:cubicBezTo>
                    <a:pt x="15794355" y="0"/>
                    <a:pt x="15844520" y="50165"/>
                    <a:pt x="15844520" y="112014"/>
                  </a:cubicBezTo>
                  <a:lnTo>
                    <a:pt x="15844520" y="1156970"/>
                  </a:lnTo>
                  <a:cubicBezTo>
                    <a:pt x="15844520" y="1218819"/>
                    <a:pt x="15794355" y="1268984"/>
                    <a:pt x="15732506" y="1268984"/>
                  </a:cubicBezTo>
                  <a:lnTo>
                    <a:pt x="112014" y="1268984"/>
                  </a:lnTo>
                  <a:cubicBezTo>
                    <a:pt x="50165" y="1268984"/>
                    <a:pt x="0" y="1218819"/>
                    <a:pt x="0" y="1156970"/>
                  </a:cubicBezTo>
                  <a:close/>
                </a:path>
              </a:pathLst>
            </a:custGeom>
            <a:solidFill>
              <a:srgbClr val="F5F7F6"/>
            </a:solidFill>
            <a:ln w="19050" cap="sq">
              <a:solidFill>
                <a:srgbClr val="E2E6F0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5897880" y="4416552"/>
            <a:ext cx="329184" cy="329184"/>
            <a:chOff x="0" y="0"/>
            <a:chExt cx="438912" cy="43891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C8933E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6515100" y="4114800"/>
            <a:ext cx="10629900" cy="932688"/>
            <a:chOff x="0" y="0"/>
            <a:chExt cx="14173200" cy="124358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4173200" cy="1243584"/>
            </a:xfrm>
            <a:custGeom>
              <a:avLst/>
              <a:gdLst/>
              <a:ahLst/>
              <a:cxnLst/>
              <a:rect r="r" b="b" t="t" l="l"/>
              <a:pathLst>
                <a:path h="1243584" w="14173200">
                  <a:moveTo>
                    <a:pt x="0" y="0"/>
                  </a:moveTo>
                  <a:lnTo>
                    <a:pt x="14173200" y="0"/>
                  </a:lnTo>
                  <a:lnTo>
                    <a:pt x="14173200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072" r="0" b="-172072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14173200" cy="12626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39"/>
                </a:lnSpc>
              </a:pPr>
              <a:r>
                <a:rPr lang="en-US" sz="2449">
                  <a:solidFill>
                    <a:srgbClr val="26333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Handled missing values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5545455" y="5271135"/>
            <a:ext cx="11883390" cy="951738"/>
            <a:chOff x="0" y="0"/>
            <a:chExt cx="15844520" cy="126898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5844520" cy="1268984"/>
            </a:xfrm>
            <a:custGeom>
              <a:avLst/>
              <a:gdLst/>
              <a:ahLst/>
              <a:cxnLst/>
              <a:rect r="r" b="b" t="t" l="l"/>
              <a:pathLst>
                <a:path h="1268984" w="15844520">
                  <a:moveTo>
                    <a:pt x="0" y="112014"/>
                  </a:moveTo>
                  <a:cubicBezTo>
                    <a:pt x="0" y="50165"/>
                    <a:pt x="50165" y="0"/>
                    <a:pt x="112014" y="0"/>
                  </a:cubicBezTo>
                  <a:lnTo>
                    <a:pt x="15732506" y="0"/>
                  </a:lnTo>
                  <a:cubicBezTo>
                    <a:pt x="15794355" y="0"/>
                    <a:pt x="15844520" y="50165"/>
                    <a:pt x="15844520" y="112014"/>
                  </a:cubicBezTo>
                  <a:lnTo>
                    <a:pt x="15844520" y="1156970"/>
                  </a:lnTo>
                  <a:cubicBezTo>
                    <a:pt x="15844520" y="1218819"/>
                    <a:pt x="15794355" y="1268984"/>
                    <a:pt x="15732506" y="1268984"/>
                  </a:cubicBezTo>
                  <a:lnTo>
                    <a:pt x="112014" y="1268984"/>
                  </a:lnTo>
                  <a:cubicBezTo>
                    <a:pt x="50165" y="1268984"/>
                    <a:pt x="0" y="1218819"/>
                    <a:pt x="0" y="1156970"/>
                  </a:cubicBezTo>
                  <a:close/>
                </a:path>
              </a:pathLst>
            </a:custGeom>
            <a:solidFill>
              <a:srgbClr val="F5F7F6"/>
            </a:solidFill>
            <a:ln w="19050" cap="sq">
              <a:solidFill>
                <a:srgbClr val="E2E6F0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5897880" y="5582412"/>
            <a:ext cx="329184" cy="329184"/>
            <a:chOff x="0" y="0"/>
            <a:chExt cx="438912" cy="43891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C8933E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6515100" y="5280660"/>
            <a:ext cx="10629900" cy="932688"/>
            <a:chOff x="0" y="0"/>
            <a:chExt cx="14173200" cy="124358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4173200" cy="1243584"/>
            </a:xfrm>
            <a:custGeom>
              <a:avLst/>
              <a:gdLst/>
              <a:ahLst/>
              <a:cxnLst/>
              <a:rect r="r" b="b" t="t" l="l"/>
              <a:pathLst>
                <a:path h="1243584" w="14173200">
                  <a:moveTo>
                    <a:pt x="0" y="0"/>
                  </a:moveTo>
                  <a:lnTo>
                    <a:pt x="14173200" y="0"/>
                  </a:lnTo>
                  <a:lnTo>
                    <a:pt x="14173200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072" r="0" b="-172072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14173200" cy="12626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39"/>
                </a:lnSpc>
              </a:pPr>
              <a:r>
                <a:rPr lang="en-US" sz="2449">
                  <a:solidFill>
                    <a:srgbClr val="26333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Converted data types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5545455" y="6436995"/>
            <a:ext cx="11883390" cy="951738"/>
            <a:chOff x="0" y="0"/>
            <a:chExt cx="15844520" cy="126898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5844520" cy="1268984"/>
            </a:xfrm>
            <a:custGeom>
              <a:avLst/>
              <a:gdLst/>
              <a:ahLst/>
              <a:cxnLst/>
              <a:rect r="r" b="b" t="t" l="l"/>
              <a:pathLst>
                <a:path h="1268984" w="15844520">
                  <a:moveTo>
                    <a:pt x="0" y="112014"/>
                  </a:moveTo>
                  <a:cubicBezTo>
                    <a:pt x="0" y="50165"/>
                    <a:pt x="50165" y="0"/>
                    <a:pt x="112014" y="0"/>
                  </a:cubicBezTo>
                  <a:lnTo>
                    <a:pt x="15732506" y="0"/>
                  </a:lnTo>
                  <a:cubicBezTo>
                    <a:pt x="15794355" y="0"/>
                    <a:pt x="15844520" y="50165"/>
                    <a:pt x="15844520" y="112014"/>
                  </a:cubicBezTo>
                  <a:lnTo>
                    <a:pt x="15844520" y="1156970"/>
                  </a:lnTo>
                  <a:cubicBezTo>
                    <a:pt x="15844520" y="1218819"/>
                    <a:pt x="15794355" y="1268984"/>
                    <a:pt x="15732506" y="1268984"/>
                  </a:cubicBezTo>
                  <a:lnTo>
                    <a:pt x="112014" y="1268984"/>
                  </a:lnTo>
                  <a:cubicBezTo>
                    <a:pt x="50165" y="1268984"/>
                    <a:pt x="0" y="1218819"/>
                    <a:pt x="0" y="1156970"/>
                  </a:cubicBezTo>
                  <a:close/>
                </a:path>
              </a:pathLst>
            </a:custGeom>
            <a:solidFill>
              <a:srgbClr val="F5F7F6"/>
            </a:solidFill>
            <a:ln w="19050" cap="sq">
              <a:solidFill>
                <a:srgbClr val="E2E6F0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5897880" y="6748272"/>
            <a:ext cx="329184" cy="329184"/>
            <a:chOff x="0" y="0"/>
            <a:chExt cx="438912" cy="43891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C8933E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515100" y="6446520"/>
            <a:ext cx="10629900" cy="932688"/>
            <a:chOff x="0" y="0"/>
            <a:chExt cx="14173200" cy="124358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4173200" cy="1243584"/>
            </a:xfrm>
            <a:custGeom>
              <a:avLst/>
              <a:gdLst/>
              <a:ahLst/>
              <a:cxnLst/>
              <a:rect r="r" b="b" t="t" l="l"/>
              <a:pathLst>
                <a:path h="1243584" w="14173200">
                  <a:moveTo>
                    <a:pt x="0" y="0"/>
                  </a:moveTo>
                  <a:lnTo>
                    <a:pt x="14173200" y="0"/>
                  </a:lnTo>
                  <a:lnTo>
                    <a:pt x="14173200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072" r="0" b="-172072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14173200" cy="12626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39"/>
                </a:lnSpc>
              </a:pPr>
              <a:r>
                <a:rPr lang="en-US" sz="2449">
                  <a:solidFill>
                    <a:srgbClr val="26333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Calculated Total Price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5545455" y="7602855"/>
            <a:ext cx="11883390" cy="951738"/>
            <a:chOff x="0" y="0"/>
            <a:chExt cx="15844520" cy="126898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5844520" cy="1268984"/>
            </a:xfrm>
            <a:custGeom>
              <a:avLst/>
              <a:gdLst/>
              <a:ahLst/>
              <a:cxnLst/>
              <a:rect r="r" b="b" t="t" l="l"/>
              <a:pathLst>
                <a:path h="1268984" w="15844520">
                  <a:moveTo>
                    <a:pt x="0" y="112014"/>
                  </a:moveTo>
                  <a:cubicBezTo>
                    <a:pt x="0" y="50165"/>
                    <a:pt x="50165" y="0"/>
                    <a:pt x="112014" y="0"/>
                  </a:cubicBezTo>
                  <a:lnTo>
                    <a:pt x="15732506" y="0"/>
                  </a:lnTo>
                  <a:cubicBezTo>
                    <a:pt x="15794355" y="0"/>
                    <a:pt x="15844520" y="50165"/>
                    <a:pt x="15844520" y="112014"/>
                  </a:cubicBezTo>
                  <a:lnTo>
                    <a:pt x="15844520" y="1156970"/>
                  </a:lnTo>
                  <a:cubicBezTo>
                    <a:pt x="15844520" y="1218819"/>
                    <a:pt x="15794355" y="1268984"/>
                    <a:pt x="15732506" y="1268984"/>
                  </a:cubicBezTo>
                  <a:lnTo>
                    <a:pt x="112014" y="1268984"/>
                  </a:lnTo>
                  <a:cubicBezTo>
                    <a:pt x="50165" y="1268984"/>
                    <a:pt x="0" y="1218819"/>
                    <a:pt x="0" y="1156970"/>
                  </a:cubicBezTo>
                  <a:close/>
                </a:path>
              </a:pathLst>
            </a:custGeom>
            <a:solidFill>
              <a:srgbClr val="F5F7F6"/>
            </a:solidFill>
            <a:ln w="19050" cap="sq">
              <a:solidFill>
                <a:srgbClr val="E2E6F0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5897880" y="7914132"/>
            <a:ext cx="329184" cy="329184"/>
            <a:chOff x="0" y="0"/>
            <a:chExt cx="438912" cy="43891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C8933E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6515100" y="7612380"/>
            <a:ext cx="10629900" cy="932688"/>
            <a:chOff x="0" y="0"/>
            <a:chExt cx="14173200" cy="1243584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4173200" cy="1243584"/>
            </a:xfrm>
            <a:custGeom>
              <a:avLst/>
              <a:gdLst/>
              <a:ahLst/>
              <a:cxnLst/>
              <a:rect r="r" b="b" t="t" l="l"/>
              <a:pathLst>
                <a:path h="1243584" w="14173200">
                  <a:moveTo>
                    <a:pt x="0" y="0"/>
                  </a:moveTo>
                  <a:lnTo>
                    <a:pt x="14173200" y="0"/>
                  </a:lnTo>
                  <a:lnTo>
                    <a:pt x="14173200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072" r="0" b="-172072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19050"/>
              <a:ext cx="14173200" cy="12626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39"/>
                </a:lnSpc>
              </a:pPr>
              <a:r>
                <a:rPr lang="en-US" sz="2449">
                  <a:solidFill>
                    <a:srgbClr val="26333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Created Pivot Tables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5545455" y="8768715"/>
            <a:ext cx="11883390" cy="951738"/>
            <a:chOff x="0" y="0"/>
            <a:chExt cx="15844520" cy="1268984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5844520" cy="1268984"/>
            </a:xfrm>
            <a:custGeom>
              <a:avLst/>
              <a:gdLst/>
              <a:ahLst/>
              <a:cxnLst/>
              <a:rect r="r" b="b" t="t" l="l"/>
              <a:pathLst>
                <a:path h="1268984" w="15844520">
                  <a:moveTo>
                    <a:pt x="0" y="112014"/>
                  </a:moveTo>
                  <a:cubicBezTo>
                    <a:pt x="0" y="50165"/>
                    <a:pt x="50165" y="0"/>
                    <a:pt x="112014" y="0"/>
                  </a:cubicBezTo>
                  <a:lnTo>
                    <a:pt x="15732506" y="0"/>
                  </a:lnTo>
                  <a:cubicBezTo>
                    <a:pt x="15794355" y="0"/>
                    <a:pt x="15844520" y="50165"/>
                    <a:pt x="15844520" y="112014"/>
                  </a:cubicBezTo>
                  <a:lnTo>
                    <a:pt x="15844520" y="1156970"/>
                  </a:lnTo>
                  <a:cubicBezTo>
                    <a:pt x="15844520" y="1218819"/>
                    <a:pt x="15794355" y="1268984"/>
                    <a:pt x="15732506" y="1268984"/>
                  </a:cubicBezTo>
                  <a:lnTo>
                    <a:pt x="112014" y="1268984"/>
                  </a:lnTo>
                  <a:cubicBezTo>
                    <a:pt x="50165" y="1268984"/>
                    <a:pt x="0" y="1218819"/>
                    <a:pt x="0" y="1156970"/>
                  </a:cubicBezTo>
                  <a:close/>
                </a:path>
              </a:pathLst>
            </a:custGeom>
            <a:solidFill>
              <a:srgbClr val="F5F7F6"/>
            </a:solidFill>
            <a:ln w="19050" cap="sq">
              <a:solidFill>
                <a:srgbClr val="E2E6F0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5897880" y="9079992"/>
            <a:ext cx="329184" cy="329184"/>
            <a:chOff x="0" y="0"/>
            <a:chExt cx="438912" cy="43891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C8933E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6515100" y="8778240"/>
            <a:ext cx="10629900" cy="932688"/>
            <a:chOff x="0" y="0"/>
            <a:chExt cx="14173200" cy="1243584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4173200" cy="1243584"/>
            </a:xfrm>
            <a:custGeom>
              <a:avLst/>
              <a:gdLst/>
              <a:ahLst/>
              <a:cxnLst/>
              <a:rect r="r" b="b" t="t" l="l"/>
              <a:pathLst>
                <a:path h="1243584" w="14173200">
                  <a:moveTo>
                    <a:pt x="0" y="0"/>
                  </a:moveTo>
                  <a:lnTo>
                    <a:pt x="14173200" y="0"/>
                  </a:lnTo>
                  <a:lnTo>
                    <a:pt x="14173200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072" r="0" b="-172072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19050"/>
              <a:ext cx="14173200" cy="12626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39"/>
                </a:lnSpc>
              </a:pPr>
              <a:r>
                <a:rPr lang="en-US" sz="2449">
                  <a:solidFill>
                    <a:srgbClr val="26333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Exported cleaned CSV files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7145000" y="9806940"/>
            <a:ext cx="548640" cy="411480"/>
            <a:chOff x="0" y="0"/>
            <a:chExt cx="731520" cy="5486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19050"/>
              <a:ext cx="73152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F6B7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DE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4937760" cy="10287000"/>
            <a:chOff x="0" y="0"/>
            <a:chExt cx="658368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58368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3C565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58290" y="3579876"/>
            <a:ext cx="1783080" cy="1783080"/>
            <a:chOff x="0" y="0"/>
            <a:chExt cx="2377440" cy="23774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77440" cy="2377440"/>
            </a:xfrm>
            <a:custGeom>
              <a:avLst/>
              <a:gdLst/>
              <a:ahLst/>
              <a:cxnLst/>
              <a:rect r="r" b="b" t="t" l="l"/>
              <a:pathLst>
                <a:path h="2377440" w="2377440">
                  <a:moveTo>
                    <a:pt x="0" y="1188720"/>
                  </a:moveTo>
                  <a:cubicBezTo>
                    <a:pt x="0" y="532257"/>
                    <a:pt x="532257" y="0"/>
                    <a:pt x="1188720" y="0"/>
                  </a:cubicBezTo>
                  <a:cubicBezTo>
                    <a:pt x="1845183" y="0"/>
                    <a:pt x="2377440" y="532257"/>
                    <a:pt x="2377440" y="1188720"/>
                  </a:cubicBezTo>
                  <a:cubicBezTo>
                    <a:pt x="2377440" y="1845183"/>
                    <a:pt x="1845183" y="2377440"/>
                    <a:pt x="1188720" y="2377440"/>
                  </a:cubicBezTo>
                  <a:cubicBezTo>
                    <a:pt x="532257" y="2377440"/>
                    <a:pt x="0" y="1845183"/>
                    <a:pt x="0" y="1188720"/>
                  </a:cubicBezTo>
                  <a:close/>
                </a:path>
              </a:pathLst>
            </a:custGeom>
            <a:solidFill>
              <a:srgbClr val="C8933E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77340" y="3579876"/>
            <a:ext cx="1783080" cy="1783080"/>
            <a:chOff x="0" y="0"/>
            <a:chExt cx="2377440" cy="23774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77440" cy="2377440"/>
            </a:xfrm>
            <a:custGeom>
              <a:avLst/>
              <a:gdLst/>
              <a:ahLst/>
              <a:cxnLst/>
              <a:rect r="r" b="b" t="t" l="l"/>
              <a:pathLst>
                <a:path h="2377440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2377440" cy="2396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387"/>
                </a:lnSpc>
              </a:pPr>
              <a:r>
                <a:rPr lang="en-US" sz="4489" b="true">
                  <a:solidFill>
                    <a:srgbClr val="26333A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48640" y="5609844"/>
            <a:ext cx="3840480" cy="1645920"/>
            <a:chOff x="0" y="0"/>
            <a:chExt cx="5120640" cy="21945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120640" cy="2194560"/>
            </a:xfrm>
            <a:custGeom>
              <a:avLst/>
              <a:gdLst/>
              <a:ahLst/>
              <a:cxnLst/>
              <a:rect r="r" b="b" t="t" l="l"/>
              <a:pathLst>
                <a:path h="21945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5120640" cy="22136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88"/>
                </a:lnSpc>
              </a:pPr>
              <a:r>
                <a:rPr lang="en-US" sz="3349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SQL Database</a:t>
              </a:r>
            </a:p>
            <a:p>
              <a:pPr algn="ctr">
                <a:lnSpc>
                  <a:spcPts val="3988"/>
                </a:lnSpc>
              </a:pPr>
              <a:r>
                <a:rPr lang="en-US" sz="3349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Management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554980" y="1577340"/>
            <a:ext cx="5486400" cy="517090"/>
            <a:chOff x="0" y="0"/>
            <a:chExt cx="7315200" cy="68945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315200" cy="689454"/>
            </a:xfrm>
            <a:custGeom>
              <a:avLst/>
              <a:gdLst/>
              <a:ahLst/>
              <a:cxnLst/>
              <a:rect r="r" b="b" t="t" l="l"/>
              <a:pathLst>
                <a:path h="689454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89454"/>
                  </a:lnTo>
                  <a:lnTo>
                    <a:pt x="0" y="689454"/>
                  </a:lnTo>
                  <a:close/>
                </a:path>
              </a:pathLst>
            </a:custGeom>
            <a:solidFill>
              <a:srgbClr val="F5F7F6">
                <a:alpha val="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7315200" cy="7085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19"/>
                </a:lnSpc>
              </a:pPr>
              <a:r>
                <a:rPr lang="en-US" sz="2599" b="true">
                  <a:solidFill>
                    <a:srgbClr val="5F6B7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Setup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554980" y="2208276"/>
            <a:ext cx="301752" cy="301752"/>
            <a:chOff x="0" y="0"/>
            <a:chExt cx="402336" cy="40233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201168"/>
                  </a:moveTo>
                  <a:cubicBezTo>
                    <a:pt x="0" y="90043"/>
                    <a:pt x="90043" y="0"/>
                    <a:pt x="201168" y="0"/>
                  </a:cubicBezTo>
                  <a:cubicBezTo>
                    <a:pt x="312293" y="0"/>
                    <a:pt x="402336" y="90043"/>
                    <a:pt x="402336" y="201168"/>
                  </a:cubicBezTo>
                  <a:cubicBezTo>
                    <a:pt x="402336" y="312293"/>
                    <a:pt x="312293" y="402336"/>
                    <a:pt x="201168" y="402336"/>
                  </a:cubicBezTo>
                  <a:cubicBezTo>
                    <a:pt x="90043" y="402336"/>
                    <a:pt x="0" y="312293"/>
                    <a:pt x="0" y="201168"/>
                  </a:cubicBezTo>
                  <a:close/>
                </a:path>
              </a:pathLst>
            </a:custGeom>
            <a:solidFill>
              <a:srgbClr val="C8933E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062472" y="2125980"/>
            <a:ext cx="5897880" cy="548640"/>
            <a:chOff x="0" y="0"/>
            <a:chExt cx="7863840" cy="7315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863840" cy="731520"/>
            </a:xfrm>
            <a:custGeom>
              <a:avLst/>
              <a:gdLst/>
              <a:ahLst/>
              <a:cxnLst/>
              <a:rect r="r" b="b" t="t" l="l"/>
              <a:pathLst>
                <a:path h="731520" w="7863840">
                  <a:moveTo>
                    <a:pt x="0" y="0"/>
                  </a:moveTo>
                  <a:lnTo>
                    <a:pt x="7863840" y="0"/>
                  </a:lnTo>
                  <a:lnTo>
                    <a:pt x="786384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F5F7F6">
                <a:alpha val="0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786384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49"/>
                </a:lnSpc>
              </a:pPr>
              <a:r>
                <a:rPr lang="en-US" sz="2374">
                  <a:solidFill>
                    <a:srgbClr val="26333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Created database tables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554980" y="2894076"/>
            <a:ext cx="301752" cy="301752"/>
            <a:chOff x="0" y="0"/>
            <a:chExt cx="402336" cy="40233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201168"/>
                  </a:moveTo>
                  <a:cubicBezTo>
                    <a:pt x="0" y="90043"/>
                    <a:pt x="90043" y="0"/>
                    <a:pt x="201168" y="0"/>
                  </a:cubicBezTo>
                  <a:cubicBezTo>
                    <a:pt x="312293" y="0"/>
                    <a:pt x="402336" y="90043"/>
                    <a:pt x="402336" y="201168"/>
                  </a:cubicBezTo>
                  <a:cubicBezTo>
                    <a:pt x="402336" y="312293"/>
                    <a:pt x="312293" y="402336"/>
                    <a:pt x="201168" y="402336"/>
                  </a:cubicBezTo>
                  <a:cubicBezTo>
                    <a:pt x="90043" y="402336"/>
                    <a:pt x="0" y="312293"/>
                    <a:pt x="0" y="201168"/>
                  </a:cubicBezTo>
                  <a:close/>
                </a:path>
              </a:pathLst>
            </a:custGeom>
            <a:solidFill>
              <a:srgbClr val="C8933E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062472" y="2811780"/>
            <a:ext cx="5897880" cy="548640"/>
            <a:chOff x="0" y="0"/>
            <a:chExt cx="7863840" cy="7315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863840" cy="731520"/>
            </a:xfrm>
            <a:custGeom>
              <a:avLst/>
              <a:gdLst/>
              <a:ahLst/>
              <a:cxnLst/>
              <a:rect r="r" b="b" t="t" l="l"/>
              <a:pathLst>
                <a:path h="731520" w="7863840">
                  <a:moveTo>
                    <a:pt x="0" y="0"/>
                  </a:moveTo>
                  <a:lnTo>
                    <a:pt x="7863840" y="0"/>
                  </a:lnTo>
                  <a:lnTo>
                    <a:pt x="7863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9464" r="0" b="-159464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786384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49"/>
                </a:lnSpc>
              </a:pPr>
              <a:r>
                <a:rPr lang="en-US" sz="2374">
                  <a:solidFill>
                    <a:srgbClr val="26333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Imported CSV files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5554980" y="3579876"/>
            <a:ext cx="301752" cy="301752"/>
            <a:chOff x="0" y="0"/>
            <a:chExt cx="402336" cy="40233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201168"/>
                  </a:moveTo>
                  <a:cubicBezTo>
                    <a:pt x="0" y="90043"/>
                    <a:pt x="90043" y="0"/>
                    <a:pt x="201168" y="0"/>
                  </a:cubicBezTo>
                  <a:cubicBezTo>
                    <a:pt x="312293" y="0"/>
                    <a:pt x="402336" y="90043"/>
                    <a:pt x="402336" y="201168"/>
                  </a:cubicBezTo>
                  <a:cubicBezTo>
                    <a:pt x="402336" y="312293"/>
                    <a:pt x="312293" y="402336"/>
                    <a:pt x="201168" y="402336"/>
                  </a:cubicBezTo>
                  <a:cubicBezTo>
                    <a:pt x="90043" y="402336"/>
                    <a:pt x="0" y="312293"/>
                    <a:pt x="0" y="201168"/>
                  </a:cubicBezTo>
                  <a:close/>
                </a:path>
              </a:pathLst>
            </a:custGeom>
            <a:solidFill>
              <a:srgbClr val="C8933E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6062472" y="3497580"/>
            <a:ext cx="5897880" cy="548640"/>
            <a:chOff x="0" y="0"/>
            <a:chExt cx="7863840" cy="7315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863840" cy="731520"/>
            </a:xfrm>
            <a:custGeom>
              <a:avLst/>
              <a:gdLst/>
              <a:ahLst/>
              <a:cxnLst/>
              <a:rect r="r" b="b" t="t" l="l"/>
              <a:pathLst>
                <a:path h="731520" w="7863840">
                  <a:moveTo>
                    <a:pt x="0" y="0"/>
                  </a:moveTo>
                  <a:lnTo>
                    <a:pt x="7863840" y="0"/>
                  </a:lnTo>
                  <a:lnTo>
                    <a:pt x="7863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9464" r="0" b="-159464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786384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49"/>
                </a:lnSpc>
              </a:pPr>
              <a:r>
                <a:rPr lang="en-US" sz="2374">
                  <a:solidFill>
                    <a:srgbClr val="26333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Performed joins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5554980" y="4594860"/>
            <a:ext cx="5486400" cy="517090"/>
            <a:chOff x="0" y="0"/>
            <a:chExt cx="7315200" cy="68945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315200" cy="689454"/>
            </a:xfrm>
            <a:custGeom>
              <a:avLst/>
              <a:gdLst/>
              <a:ahLst/>
              <a:cxnLst/>
              <a:rect r="r" b="b" t="t" l="l"/>
              <a:pathLst>
                <a:path h="689454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89454"/>
                  </a:lnTo>
                  <a:lnTo>
                    <a:pt x="0" y="68945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0319" r="0" b="-153158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7315200" cy="7085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19"/>
                </a:lnSpc>
              </a:pPr>
              <a:r>
                <a:rPr lang="en-US" sz="2599" b="true">
                  <a:solidFill>
                    <a:srgbClr val="5F6B7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Key Queries Built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5545455" y="5175123"/>
            <a:ext cx="5779770" cy="869442"/>
            <a:chOff x="0" y="0"/>
            <a:chExt cx="7706360" cy="115925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706360" cy="1159256"/>
            </a:xfrm>
            <a:custGeom>
              <a:avLst/>
              <a:gdLst/>
              <a:ahLst/>
              <a:cxnLst/>
              <a:rect r="r" b="b" t="t" l="l"/>
              <a:pathLst>
                <a:path h="1159256" w="7706360">
                  <a:moveTo>
                    <a:pt x="0" y="112141"/>
                  </a:moveTo>
                  <a:cubicBezTo>
                    <a:pt x="0" y="50165"/>
                    <a:pt x="50165" y="0"/>
                    <a:pt x="112141" y="0"/>
                  </a:cubicBezTo>
                  <a:lnTo>
                    <a:pt x="7594219" y="0"/>
                  </a:lnTo>
                  <a:cubicBezTo>
                    <a:pt x="7656195" y="0"/>
                    <a:pt x="7706360" y="50165"/>
                    <a:pt x="7706360" y="112141"/>
                  </a:cubicBezTo>
                  <a:lnTo>
                    <a:pt x="7706360" y="1047115"/>
                  </a:lnTo>
                  <a:cubicBezTo>
                    <a:pt x="7706360" y="1109091"/>
                    <a:pt x="7656195" y="1159256"/>
                    <a:pt x="7594219" y="1159256"/>
                  </a:cubicBezTo>
                  <a:lnTo>
                    <a:pt x="112141" y="1159256"/>
                  </a:lnTo>
                  <a:cubicBezTo>
                    <a:pt x="50165" y="1159256"/>
                    <a:pt x="0" y="1109091"/>
                    <a:pt x="0" y="1047115"/>
                  </a:cubicBezTo>
                  <a:close/>
                </a:path>
              </a:pathLst>
            </a:custGeom>
            <a:solidFill>
              <a:srgbClr val="F5F7F6"/>
            </a:solidFill>
            <a:ln w="19050" cap="sq">
              <a:solidFill>
                <a:srgbClr val="E2E6F0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5829300" y="5184648"/>
            <a:ext cx="5212080" cy="850392"/>
            <a:chOff x="0" y="0"/>
            <a:chExt cx="6949440" cy="113385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949440" cy="1133856"/>
            </a:xfrm>
            <a:custGeom>
              <a:avLst/>
              <a:gdLst/>
              <a:ahLst/>
              <a:cxnLst/>
              <a:rect r="r" b="b" t="t" l="l"/>
              <a:pathLst>
                <a:path h="1133856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424" r="0" b="-69424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6949440" cy="11433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79"/>
                </a:lnSpc>
              </a:pPr>
              <a:r>
                <a:rPr lang="en-US" sz="2149" b="true">
                  <a:solidFill>
                    <a:srgbClr val="26333A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Sales by Store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1649075" y="5175123"/>
            <a:ext cx="5779770" cy="869442"/>
            <a:chOff x="0" y="0"/>
            <a:chExt cx="7706360" cy="115925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706360" cy="1159256"/>
            </a:xfrm>
            <a:custGeom>
              <a:avLst/>
              <a:gdLst/>
              <a:ahLst/>
              <a:cxnLst/>
              <a:rect r="r" b="b" t="t" l="l"/>
              <a:pathLst>
                <a:path h="1159256" w="7706360">
                  <a:moveTo>
                    <a:pt x="0" y="112141"/>
                  </a:moveTo>
                  <a:cubicBezTo>
                    <a:pt x="0" y="50165"/>
                    <a:pt x="50165" y="0"/>
                    <a:pt x="112141" y="0"/>
                  </a:cubicBezTo>
                  <a:lnTo>
                    <a:pt x="7594219" y="0"/>
                  </a:lnTo>
                  <a:cubicBezTo>
                    <a:pt x="7656195" y="0"/>
                    <a:pt x="7706360" y="50165"/>
                    <a:pt x="7706360" y="112141"/>
                  </a:cubicBezTo>
                  <a:lnTo>
                    <a:pt x="7706360" y="1047115"/>
                  </a:lnTo>
                  <a:cubicBezTo>
                    <a:pt x="7706360" y="1109091"/>
                    <a:pt x="7656195" y="1159256"/>
                    <a:pt x="7594219" y="1159256"/>
                  </a:cubicBezTo>
                  <a:lnTo>
                    <a:pt x="112141" y="1159256"/>
                  </a:lnTo>
                  <a:cubicBezTo>
                    <a:pt x="50165" y="1159256"/>
                    <a:pt x="0" y="1109091"/>
                    <a:pt x="0" y="1047115"/>
                  </a:cubicBezTo>
                  <a:close/>
                </a:path>
              </a:pathLst>
            </a:custGeom>
            <a:solidFill>
              <a:srgbClr val="F5F7F6"/>
            </a:solidFill>
            <a:ln w="19050" cap="sq">
              <a:solidFill>
                <a:srgbClr val="E2E6F0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1932920" y="5184648"/>
            <a:ext cx="5212080" cy="850392"/>
            <a:chOff x="0" y="0"/>
            <a:chExt cx="6949440" cy="113385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949440" cy="1133856"/>
            </a:xfrm>
            <a:custGeom>
              <a:avLst/>
              <a:gdLst/>
              <a:ahLst/>
              <a:cxnLst/>
              <a:rect r="r" b="b" t="t" l="l"/>
              <a:pathLst>
                <a:path h="1133856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424" r="0" b="-69424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6949440" cy="11433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79"/>
                </a:lnSpc>
              </a:pPr>
              <a:r>
                <a:rPr lang="en-US" sz="2149" b="true">
                  <a:solidFill>
                    <a:srgbClr val="26333A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Top Selling Products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5545455" y="6244971"/>
            <a:ext cx="5779770" cy="869442"/>
            <a:chOff x="0" y="0"/>
            <a:chExt cx="7706360" cy="115925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706360" cy="1159256"/>
            </a:xfrm>
            <a:custGeom>
              <a:avLst/>
              <a:gdLst/>
              <a:ahLst/>
              <a:cxnLst/>
              <a:rect r="r" b="b" t="t" l="l"/>
              <a:pathLst>
                <a:path h="1159256" w="7706360">
                  <a:moveTo>
                    <a:pt x="0" y="112141"/>
                  </a:moveTo>
                  <a:cubicBezTo>
                    <a:pt x="0" y="50165"/>
                    <a:pt x="50165" y="0"/>
                    <a:pt x="112141" y="0"/>
                  </a:cubicBezTo>
                  <a:lnTo>
                    <a:pt x="7594219" y="0"/>
                  </a:lnTo>
                  <a:cubicBezTo>
                    <a:pt x="7656195" y="0"/>
                    <a:pt x="7706360" y="50165"/>
                    <a:pt x="7706360" y="112141"/>
                  </a:cubicBezTo>
                  <a:lnTo>
                    <a:pt x="7706360" y="1047115"/>
                  </a:lnTo>
                  <a:cubicBezTo>
                    <a:pt x="7706360" y="1109091"/>
                    <a:pt x="7656195" y="1159256"/>
                    <a:pt x="7594219" y="1159256"/>
                  </a:cubicBezTo>
                  <a:lnTo>
                    <a:pt x="112141" y="1159256"/>
                  </a:lnTo>
                  <a:cubicBezTo>
                    <a:pt x="50165" y="1159256"/>
                    <a:pt x="0" y="1109091"/>
                    <a:pt x="0" y="1047115"/>
                  </a:cubicBezTo>
                  <a:close/>
                </a:path>
              </a:pathLst>
            </a:custGeom>
            <a:solidFill>
              <a:srgbClr val="F5F7F6"/>
            </a:solidFill>
            <a:ln w="19050" cap="sq">
              <a:solidFill>
                <a:srgbClr val="E2E6F0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5829300" y="6254496"/>
            <a:ext cx="5212080" cy="850392"/>
            <a:chOff x="0" y="0"/>
            <a:chExt cx="6949440" cy="113385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949440" cy="1133856"/>
            </a:xfrm>
            <a:custGeom>
              <a:avLst/>
              <a:gdLst/>
              <a:ahLst/>
              <a:cxnLst/>
              <a:rect r="r" b="b" t="t" l="l"/>
              <a:pathLst>
                <a:path h="1133856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424" r="0" b="-69424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6949440" cy="11433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79"/>
                </a:lnSpc>
              </a:pPr>
              <a:r>
                <a:rPr lang="en-US" sz="2149" b="true">
                  <a:solidFill>
                    <a:srgbClr val="26333A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Customer Purchase Summary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1649075" y="6244971"/>
            <a:ext cx="5779770" cy="869442"/>
            <a:chOff x="0" y="0"/>
            <a:chExt cx="7706360" cy="115925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7706360" cy="1159256"/>
            </a:xfrm>
            <a:custGeom>
              <a:avLst/>
              <a:gdLst/>
              <a:ahLst/>
              <a:cxnLst/>
              <a:rect r="r" b="b" t="t" l="l"/>
              <a:pathLst>
                <a:path h="1159256" w="7706360">
                  <a:moveTo>
                    <a:pt x="0" y="112141"/>
                  </a:moveTo>
                  <a:cubicBezTo>
                    <a:pt x="0" y="50165"/>
                    <a:pt x="50165" y="0"/>
                    <a:pt x="112141" y="0"/>
                  </a:cubicBezTo>
                  <a:lnTo>
                    <a:pt x="7594219" y="0"/>
                  </a:lnTo>
                  <a:cubicBezTo>
                    <a:pt x="7656195" y="0"/>
                    <a:pt x="7706360" y="50165"/>
                    <a:pt x="7706360" y="112141"/>
                  </a:cubicBezTo>
                  <a:lnTo>
                    <a:pt x="7706360" y="1047115"/>
                  </a:lnTo>
                  <a:cubicBezTo>
                    <a:pt x="7706360" y="1109091"/>
                    <a:pt x="7656195" y="1159256"/>
                    <a:pt x="7594219" y="1159256"/>
                  </a:cubicBezTo>
                  <a:lnTo>
                    <a:pt x="112141" y="1159256"/>
                  </a:lnTo>
                  <a:cubicBezTo>
                    <a:pt x="50165" y="1159256"/>
                    <a:pt x="0" y="1109091"/>
                    <a:pt x="0" y="1047115"/>
                  </a:cubicBezTo>
                  <a:close/>
                </a:path>
              </a:pathLst>
            </a:custGeom>
            <a:solidFill>
              <a:srgbClr val="F5F7F6"/>
            </a:solidFill>
            <a:ln w="19050" cap="sq">
              <a:solidFill>
                <a:srgbClr val="E2E6F0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11932920" y="6254496"/>
            <a:ext cx="5212080" cy="850392"/>
            <a:chOff x="0" y="0"/>
            <a:chExt cx="6949440" cy="113385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949440" cy="1133856"/>
            </a:xfrm>
            <a:custGeom>
              <a:avLst/>
              <a:gdLst/>
              <a:ahLst/>
              <a:cxnLst/>
              <a:rect r="r" b="b" t="t" l="l"/>
              <a:pathLst>
                <a:path h="1133856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424" r="0" b="-69424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9525"/>
              <a:ext cx="6949440" cy="11433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79"/>
                </a:lnSpc>
              </a:pPr>
              <a:r>
                <a:rPr lang="en-US" sz="2149" b="true">
                  <a:solidFill>
                    <a:srgbClr val="26333A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Staff Performance Analysis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5545455" y="7314819"/>
            <a:ext cx="5779770" cy="869442"/>
            <a:chOff x="0" y="0"/>
            <a:chExt cx="7706360" cy="115925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706360" cy="1159256"/>
            </a:xfrm>
            <a:custGeom>
              <a:avLst/>
              <a:gdLst/>
              <a:ahLst/>
              <a:cxnLst/>
              <a:rect r="r" b="b" t="t" l="l"/>
              <a:pathLst>
                <a:path h="1159256" w="7706360">
                  <a:moveTo>
                    <a:pt x="0" y="112141"/>
                  </a:moveTo>
                  <a:cubicBezTo>
                    <a:pt x="0" y="50165"/>
                    <a:pt x="50165" y="0"/>
                    <a:pt x="112141" y="0"/>
                  </a:cubicBezTo>
                  <a:lnTo>
                    <a:pt x="7594219" y="0"/>
                  </a:lnTo>
                  <a:cubicBezTo>
                    <a:pt x="7656195" y="0"/>
                    <a:pt x="7706360" y="50165"/>
                    <a:pt x="7706360" y="112141"/>
                  </a:cubicBezTo>
                  <a:lnTo>
                    <a:pt x="7706360" y="1047115"/>
                  </a:lnTo>
                  <a:cubicBezTo>
                    <a:pt x="7706360" y="1109091"/>
                    <a:pt x="7656195" y="1159256"/>
                    <a:pt x="7594219" y="1159256"/>
                  </a:cubicBezTo>
                  <a:lnTo>
                    <a:pt x="112141" y="1159256"/>
                  </a:lnTo>
                  <a:cubicBezTo>
                    <a:pt x="50165" y="1159256"/>
                    <a:pt x="0" y="1109091"/>
                    <a:pt x="0" y="1047115"/>
                  </a:cubicBezTo>
                  <a:close/>
                </a:path>
              </a:pathLst>
            </a:custGeom>
            <a:solidFill>
              <a:srgbClr val="F5F7F6"/>
            </a:solidFill>
            <a:ln w="19050" cap="sq">
              <a:solidFill>
                <a:srgbClr val="E2E6F0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5829300" y="7324344"/>
            <a:ext cx="5212080" cy="850392"/>
            <a:chOff x="0" y="0"/>
            <a:chExt cx="6949440" cy="1133856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6949440" cy="1133856"/>
            </a:xfrm>
            <a:custGeom>
              <a:avLst/>
              <a:gdLst/>
              <a:ahLst/>
              <a:cxnLst/>
              <a:rect r="r" b="b" t="t" l="l"/>
              <a:pathLst>
                <a:path h="1133856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424" r="0" b="-69424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9525"/>
              <a:ext cx="6949440" cy="11433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79"/>
                </a:lnSpc>
              </a:pPr>
              <a:r>
                <a:rPr lang="en-US" sz="2149" b="true">
                  <a:solidFill>
                    <a:srgbClr val="26333A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Stock Alert Query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7145000" y="9806940"/>
            <a:ext cx="548640" cy="411480"/>
            <a:chOff x="0" y="0"/>
            <a:chExt cx="731520" cy="5486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19050"/>
              <a:ext cx="73152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F6B7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6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DE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4937760" cy="10287000"/>
            <a:chOff x="0" y="0"/>
            <a:chExt cx="658368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58368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3C565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77340" y="3566160"/>
            <a:ext cx="1783080" cy="1783080"/>
            <a:chOff x="0" y="0"/>
            <a:chExt cx="2377440" cy="23774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77440" cy="2377440"/>
            </a:xfrm>
            <a:custGeom>
              <a:avLst/>
              <a:gdLst/>
              <a:ahLst/>
              <a:cxnLst/>
              <a:rect r="r" b="b" t="t" l="l"/>
              <a:pathLst>
                <a:path h="2377440" w="2377440">
                  <a:moveTo>
                    <a:pt x="0" y="1188720"/>
                  </a:moveTo>
                  <a:cubicBezTo>
                    <a:pt x="0" y="532257"/>
                    <a:pt x="532257" y="0"/>
                    <a:pt x="1188720" y="0"/>
                  </a:cubicBezTo>
                  <a:cubicBezTo>
                    <a:pt x="1845183" y="0"/>
                    <a:pt x="2377440" y="532257"/>
                    <a:pt x="2377440" y="1188720"/>
                  </a:cubicBezTo>
                  <a:cubicBezTo>
                    <a:pt x="2377440" y="1845183"/>
                    <a:pt x="1845183" y="2377440"/>
                    <a:pt x="1188720" y="2377440"/>
                  </a:cubicBezTo>
                  <a:cubicBezTo>
                    <a:pt x="532257" y="2377440"/>
                    <a:pt x="0" y="1845183"/>
                    <a:pt x="0" y="1188720"/>
                  </a:cubicBezTo>
                  <a:close/>
                </a:path>
              </a:pathLst>
            </a:custGeom>
            <a:solidFill>
              <a:srgbClr val="C8933E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77340" y="3566160"/>
            <a:ext cx="1783080" cy="1783080"/>
            <a:chOff x="0" y="0"/>
            <a:chExt cx="2377440" cy="23774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77440" cy="2377440"/>
            </a:xfrm>
            <a:custGeom>
              <a:avLst/>
              <a:gdLst/>
              <a:ahLst/>
              <a:cxnLst/>
              <a:rect r="r" b="b" t="t" l="l"/>
              <a:pathLst>
                <a:path h="2377440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2377440" cy="2396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387"/>
                </a:lnSpc>
              </a:pPr>
              <a:r>
                <a:rPr lang="en-US" sz="4489" b="true">
                  <a:solidFill>
                    <a:srgbClr val="26333A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48640" y="5623560"/>
            <a:ext cx="3840480" cy="1645920"/>
            <a:chOff x="0" y="0"/>
            <a:chExt cx="5120640" cy="21945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120640" cy="2194560"/>
            </a:xfrm>
            <a:custGeom>
              <a:avLst/>
              <a:gdLst/>
              <a:ahLst/>
              <a:cxnLst/>
              <a:rect r="r" b="b" t="t" l="l"/>
              <a:pathLst>
                <a:path h="21945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5120640" cy="22136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136"/>
                </a:lnSpc>
              </a:pPr>
              <a:r>
                <a:rPr lang="en-US" sz="3499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Python</a:t>
              </a:r>
            </a:p>
            <a:p>
              <a:pPr algn="ctr">
                <a:lnSpc>
                  <a:spcPts val="4136"/>
                </a:lnSpc>
              </a:pPr>
              <a:r>
                <a:rPr lang="en-US" sz="3499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Analysis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545455" y="1773555"/>
            <a:ext cx="11883390" cy="951738"/>
            <a:chOff x="0" y="0"/>
            <a:chExt cx="15844520" cy="126898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844520" cy="1268984"/>
            </a:xfrm>
            <a:custGeom>
              <a:avLst/>
              <a:gdLst/>
              <a:ahLst/>
              <a:cxnLst/>
              <a:rect r="r" b="b" t="t" l="l"/>
              <a:pathLst>
                <a:path h="1268984" w="15844520">
                  <a:moveTo>
                    <a:pt x="0" y="112014"/>
                  </a:moveTo>
                  <a:cubicBezTo>
                    <a:pt x="0" y="50165"/>
                    <a:pt x="50165" y="0"/>
                    <a:pt x="112014" y="0"/>
                  </a:cubicBezTo>
                  <a:lnTo>
                    <a:pt x="15732506" y="0"/>
                  </a:lnTo>
                  <a:cubicBezTo>
                    <a:pt x="15794355" y="0"/>
                    <a:pt x="15844520" y="50165"/>
                    <a:pt x="15844520" y="112014"/>
                  </a:cubicBezTo>
                  <a:lnTo>
                    <a:pt x="15844520" y="1156970"/>
                  </a:lnTo>
                  <a:cubicBezTo>
                    <a:pt x="15844520" y="1218819"/>
                    <a:pt x="15794355" y="1268984"/>
                    <a:pt x="15732506" y="1268984"/>
                  </a:cubicBezTo>
                  <a:lnTo>
                    <a:pt x="112014" y="1268984"/>
                  </a:lnTo>
                  <a:cubicBezTo>
                    <a:pt x="50165" y="1268984"/>
                    <a:pt x="0" y="1218819"/>
                    <a:pt x="0" y="1156970"/>
                  </a:cubicBezTo>
                  <a:close/>
                </a:path>
              </a:pathLst>
            </a:custGeom>
            <a:solidFill>
              <a:srgbClr val="F5F7F6"/>
            </a:solidFill>
            <a:ln w="19050" cap="sq">
              <a:solidFill>
                <a:srgbClr val="E2E6F0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5897880" y="2084832"/>
            <a:ext cx="329184" cy="329184"/>
            <a:chOff x="0" y="0"/>
            <a:chExt cx="438912" cy="43891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C8933E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515100" y="1783080"/>
            <a:ext cx="10629900" cy="932688"/>
            <a:chOff x="0" y="0"/>
            <a:chExt cx="14173200" cy="124358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173200" cy="1243584"/>
            </a:xfrm>
            <a:custGeom>
              <a:avLst/>
              <a:gdLst/>
              <a:ahLst/>
              <a:cxnLst/>
              <a:rect r="r" b="b" t="t" l="l"/>
              <a:pathLst>
                <a:path h="1243584" w="14173200">
                  <a:moveTo>
                    <a:pt x="0" y="0"/>
                  </a:moveTo>
                  <a:lnTo>
                    <a:pt x="14173200" y="0"/>
                  </a:lnTo>
                  <a:lnTo>
                    <a:pt x="14173200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072" r="0" b="-172072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14173200" cy="12626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39"/>
                </a:lnSpc>
              </a:pPr>
              <a:r>
                <a:rPr lang="en-US" sz="2449">
                  <a:solidFill>
                    <a:srgbClr val="26333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Loaded data from SQL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545455" y="2939415"/>
            <a:ext cx="11883390" cy="951738"/>
            <a:chOff x="0" y="0"/>
            <a:chExt cx="15844520" cy="126898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5844520" cy="1268984"/>
            </a:xfrm>
            <a:custGeom>
              <a:avLst/>
              <a:gdLst/>
              <a:ahLst/>
              <a:cxnLst/>
              <a:rect r="r" b="b" t="t" l="l"/>
              <a:pathLst>
                <a:path h="1268984" w="15844520">
                  <a:moveTo>
                    <a:pt x="0" y="112014"/>
                  </a:moveTo>
                  <a:cubicBezTo>
                    <a:pt x="0" y="50165"/>
                    <a:pt x="50165" y="0"/>
                    <a:pt x="112014" y="0"/>
                  </a:cubicBezTo>
                  <a:lnTo>
                    <a:pt x="15732506" y="0"/>
                  </a:lnTo>
                  <a:cubicBezTo>
                    <a:pt x="15794355" y="0"/>
                    <a:pt x="15844520" y="50165"/>
                    <a:pt x="15844520" y="112014"/>
                  </a:cubicBezTo>
                  <a:lnTo>
                    <a:pt x="15844520" y="1156970"/>
                  </a:lnTo>
                  <a:cubicBezTo>
                    <a:pt x="15844520" y="1218819"/>
                    <a:pt x="15794355" y="1268984"/>
                    <a:pt x="15732506" y="1268984"/>
                  </a:cubicBezTo>
                  <a:lnTo>
                    <a:pt x="112014" y="1268984"/>
                  </a:lnTo>
                  <a:cubicBezTo>
                    <a:pt x="50165" y="1268984"/>
                    <a:pt x="0" y="1218819"/>
                    <a:pt x="0" y="1156970"/>
                  </a:cubicBezTo>
                  <a:close/>
                </a:path>
              </a:pathLst>
            </a:custGeom>
            <a:solidFill>
              <a:srgbClr val="F5F7F6"/>
            </a:solidFill>
            <a:ln w="19050" cap="sq">
              <a:solidFill>
                <a:srgbClr val="E2E6F0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5897880" y="3250692"/>
            <a:ext cx="329184" cy="329184"/>
            <a:chOff x="0" y="0"/>
            <a:chExt cx="438912" cy="43891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C8933E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6515100" y="2948940"/>
            <a:ext cx="10629900" cy="932688"/>
            <a:chOff x="0" y="0"/>
            <a:chExt cx="14173200" cy="124358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4173200" cy="1243584"/>
            </a:xfrm>
            <a:custGeom>
              <a:avLst/>
              <a:gdLst/>
              <a:ahLst/>
              <a:cxnLst/>
              <a:rect r="r" b="b" t="t" l="l"/>
              <a:pathLst>
                <a:path h="1243584" w="14173200">
                  <a:moveTo>
                    <a:pt x="0" y="0"/>
                  </a:moveTo>
                  <a:lnTo>
                    <a:pt x="14173200" y="0"/>
                  </a:lnTo>
                  <a:lnTo>
                    <a:pt x="14173200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072" r="0" b="-172072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14173200" cy="12626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39"/>
                </a:lnSpc>
              </a:pPr>
              <a:r>
                <a:rPr lang="en-US" sz="2449">
                  <a:solidFill>
                    <a:srgbClr val="26333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Performed Exploratory Data Analysis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545455" y="4105275"/>
            <a:ext cx="11883390" cy="951738"/>
            <a:chOff x="0" y="0"/>
            <a:chExt cx="15844520" cy="126898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5844520" cy="1268984"/>
            </a:xfrm>
            <a:custGeom>
              <a:avLst/>
              <a:gdLst/>
              <a:ahLst/>
              <a:cxnLst/>
              <a:rect r="r" b="b" t="t" l="l"/>
              <a:pathLst>
                <a:path h="1268984" w="15844520">
                  <a:moveTo>
                    <a:pt x="0" y="112014"/>
                  </a:moveTo>
                  <a:cubicBezTo>
                    <a:pt x="0" y="50165"/>
                    <a:pt x="50165" y="0"/>
                    <a:pt x="112014" y="0"/>
                  </a:cubicBezTo>
                  <a:lnTo>
                    <a:pt x="15732506" y="0"/>
                  </a:lnTo>
                  <a:cubicBezTo>
                    <a:pt x="15794355" y="0"/>
                    <a:pt x="15844520" y="50165"/>
                    <a:pt x="15844520" y="112014"/>
                  </a:cubicBezTo>
                  <a:lnTo>
                    <a:pt x="15844520" y="1156970"/>
                  </a:lnTo>
                  <a:cubicBezTo>
                    <a:pt x="15844520" y="1218819"/>
                    <a:pt x="15794355" y="1268984"/>
                    <a:pt x="15732506" y="1268984"/>
                  </a:cubicBezTo>
                  <a:lnTo>
                    <a:pt x="112014" y="1268984"/>
                  </a:lnTo>
                  <a:cubicBezTo>
                    <a:pt x="50165" y="1268984"/>
                    <a:pt x="0" y="1218819"/>
                    <a:pt x="0" y="1156970"/>
                  </a:cubicBezTo>
                  <a:close/>
                </a:path>
              </a:pathLst>
            </a:custGeom>
            <a:solidFill>
              <a:srgbClr val="F5F7F6"/>
            </a:solidFill>
            <a:ln w="19050" cap="sq">
              <a:solidFill>
                <a:srgbClr val="E2E6F0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5897880" y="4416552"/>
            <a:ext cx="329184" cy="329184"/>
            <a:chOff x="0" y="0"/>
            <a:chExt cx="438912" cy="43891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C8933E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6515100" y="4114800"/>
            <a:ext cx="10629900" cy="932688"/>
            <a:chOff x="0" y="0"/>
            <a:chExt cx="14173200" cy="124358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4173200" cy="1243584"/>
            </a:xfrm>
            <a:custGeom>
              <a:avLst/>
              <a:gdLst/>
              <a:ahLst/>
              <a:cxnLst/>
              <a:rect r="r" b="b" t="t" l="l"/>
              <a:pathLst>
                <a:path h="1243584" w="14173200">
                  <a:moveTo>
                    <a:pt x="0" y="0"/>
                  </a:moveTo>
                  <a:lnTo>
                    <a:pt x="14173200" y="0"/>
                  </a:lnTo>
                  <a:lnTo>
                    <a:pt x="14173200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072" r="0" b="-172072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14173200" cy="12626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39"/>
                </a:lnSpc>
              </a:pPr>
              <a:r>
                <a:rPr lang="en-US" sz="2449">
                  <a:solidFill>
                    <a:srgbClr val="26333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Generated statistical summaries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5545455" y="5271135"/>
            <a:ext cx="11883390" cy="951738"/>
            <a:chOff x="0" y="0"/>
            <a:chExt cx="15844520" cy="126898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5844520" cy="1268984"/>
            </a:xfrm>
            <a:custGeom>
              <a:avLst/>
              <a:gdLst/>
              <a:ahLst/>
              <a:cxnLst/>
              <a:rect r="r" b="b" t="t" l="l"/>
              <a:pathLst>
                <a:path h="1268984" w="15844520">
                  <a:moveTo>
                    <a:pt x="0" y="112014"/>
                  </a:moveTo>
                  <a:cubicBezTo>
                    <a:pt x="0" y="50165"/>
                    <a:pt x="50165" y="0"/>
                    <a:pt x="112014" y="0"/>
                  </a:cubicBezTo>
                  <a:lnTo>
                    <a:pt x="15732506" y="0"/>
                  </a:lnTo>
                  <a:cubicBezTo>
                    <a:pt x="15794355" y="0"/>
                    <a:pt x="15844520" y="50165"/>
                    <a:pt x="15844520" y="112014"/>
                  </a:cubicBezTo>
                  <a:lnTo>
                    <a:pt x="15844520" y="1156970"/>
                  </a:lnTo>
                  <a:cubicBezTo>
                    <a:pt x="15844520" y="1218819"/>
                    <a:pt x="15794355" y="1268984"/>
                    <a:pt x="15732506" y="1268984"/>
                  </a:cubicBezTo>
                  <a:lnTo>
                    <a:pt x="112014" y="1268984"/>
                  </a:lnTo>
                  <a:cubicBezTo>
                    <a:pt x="50165" y="1268984"/>
                    <a:pt x="0" y="1218819"/>
                    <a:pt x="0" y="1156970"/>
                  </a:cubicBezTo>
                  <a:close/>
                </a:path>
              </a:pathLst>
            </a:custGeom>
            <a:solidFill>
              <a:srgbClr val="F5F7F6"/>
            </a:solidFill>
            <a:ln w="19050" cap="sq">
              <a:solidFill>
                <a:srgbClr val="E2E6F0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5897880" y="5582412"/>
            <a:ext cx="329184" cy="329184"/>
            <a:chOff x="0" y="0"/>
            <a:chExt cx="438912" cy="43891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C8933E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6515100" y="5280660"/>
            <a:ext cx="10629900" cy="932688"/>
            <a:chOff x="0" y="0"/>
            <a:chExt cx="14173200" cy="124358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4173200" cy="1243584"/>
            </a:xfrm>
            <a:custGeom>
              <a:avLst/>
              <a:gdLst/>
              <a:ahLst/>
              <a:cxnLst/>
              <a:rect r="r" b="b" t="t" l="l"/>
              <a:pathLst>
                <a:path h="1243584" w="14173200">
                  <a:moveTo>
                    <a:pt x="0" y="0"/>
                  </a:moveTo>
                  <a:lnTo>
                    <a:pt x="14173200" y="0"/>
                  </a:lnTo>
                  <a:lnTo>
                    <a:pt x="14173200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072" r="0" b="-172072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14173200" cy="12626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39"/>
                </a:lnSpc>
              </a:pPr>
              <a:r>
                <a:rPr lang="en-US" sz="2449">
                  <a:solidFill>
                    <a:srgbClr val="26333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Calculated RFM values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5545455" y="6436995"/>
            <a:ext cx="11883390" cy="951738"/>
            <a:chOff x="0" y="0"/>
            <a:chExt cx="15844520" cy="126898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5844520" cy="1268984"/>
            </a:xfrm>
            <a:custGeom>
              <a:avLst/>
              <a:gdLst/>
              <a:ahLst/>
              <a:cxnLst/>
              <a:rect r="r" b="b" t="t" l="l"/>
              <a:pathLst>
                <a:path h="1268984" w="15844520">
                  <a:moveTo>
                    <a:pt x="0" y="112014"/>
                  </a:moveTo>
                  <a:cubicBezTo>
                    <a:pt x="0" y="50165"/>
                    <a:pt x="50165" y="0"/>
                    <a:pt x="112014" y="0"/>
                  </a:cubicBezTo>
                  <a:lnTo>
                    <a:pt x="15732506" y="0"/>
                  </a:lnTo>
                  <a:cubicBezTo>
                    <a:pt x="15794355" y="0"/>
                    <a:pt x="15844520" y="50165"/>
                    <a:pt x="15844520" y="112014"/>
                  </a:cubicBezTo>
                  <a:lnTo>
                    <a:pt x="15844520" y="1156970"/>
                  </a:lnTo>
                  <a:cubicBezTo>
                    <a:pt x="15844520" y="1218819"/>
                    <a:pt x="15794355" y="1268984"/>
                    <a:pt x="15732506" y="1268984"/>
                  </a:cubicBezTo>
                  <a:lnTo>
                    <a:pt x="112014" y="1268984"/>
                  </a:lnTo>
                  <a:cubicBezTo>
                    <a:pt x="50165" y="1268984"/>
                    <a:pt x="0" y="1218819"/>
                    <a:pt x="0" y="1156970"/>
                  </a:cubicBezTo>
                  <a:close/>
                </a:path>
              </a:pathLst>
            </a:custGeom>
            <a:solidFill>
              <a:srgbClr val="F5F7F6"/>
            </a:solidFill>
            <a:ln w="19050" cap="sq">
              <a:solidFill>
                <a:srgbClr val="E2E6F0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5897880" y="6748272"/>
            <a:ext cx="329184" cy="329184"/>
            <a:chOff x="0" y="0"/>
            <a:chExt cx="438912" cy="43891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C8933E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515100" y="6446520"/>
            <a:ext cx="10629900" cy="932688"/>
            <a:chOff x="0" y="0"/>
            <a:chExt cx="14173200" cy="124358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4173200" cy="1243584"/>
            </a:xfrm>
            <a:custGeom>
              <a:avLst/>
              <a:gdLst/>
              <a:ahLst/>
              <a:cxnLst/>
              <a:rect r="r" b="b" t="t" l="l"/>
              <a:pathLst>
                <a:path h="1243584" w="14173200">
                  <a:moveTo>
                    <a:pt x="0" y="0"/>
                  </a:moveTo>
                  <a:lnTo>
                    <a:pt x="14173200" y="0"/>
                  </a:lnTo>
                  <a:lnTo>
                    <a:pt x="14173200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072" r="0" b="-172072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14173200" cy="12626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39"/>
                </a:lnSpc>
              </a:pPr>
              <a:r>
                <a:rPr lang="en-US" sz="2449">
                  <a:solidFill>
                    <a:srgbClr val="26333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Applied Customer Segmentation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5545455" y="7602855"/>
            <a:ext cx="11883390" cy="951738"/>
            <a:chOff x="0" y="0"/>
            <a:chExt cx="15844520" cy="126898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5844520" cy="1268984"/>
            </a:xfrm>
            <a:custGeom>
              <a:avLst/>
              <a:gdLst/>
              <a:ahLst/>
              <a:cxnLst/>
              <a:rect r="r" b="b" t="t" l="l"/>
              <a:pathLst>
                <a:path h="1268984" w="15844520">
                  <a:moveTo>
                    <a:pt x="0" y="112014"/>
                  </a:moveTo>
                  <a:cubicBezTo>
                    <a:pt x="0" y="50165"/>
                    <a:pt x="50165" y="0"/>
                    <a:pt x="112014" y="0"/>
                  </a:cubicBezTo>
                  <a:lnTo>
                    <a:pt x="15732506" y="0"/>
                  </a:lnTo>
                  <a:cubicBezTo>
                    <a:pt x="15794355" y="0"/>
                    <a:pt x="15844520" y="50165"/>
                    <a:pt x="15844520" y="112014"/>
                  </a:cubicBezTo>
                  <a:lnTo>
                    <a:pt x="15844520" y="1156970"/>
                  </a:lnTo>
                  <a:cubicBezTo>
                    <a:pt x="15844520" y="1218819"/>
                    <a:pt x="15794355" y="1268984"/>
                    <a:pt x="15732506" y="1268984"/>
                  </a:cubicBezTo>
                  <a:lnTo>
                    <a:pt x="112014" y="1268984"/>
                  </a:lnTo>
                  <a:cubicBezTo>
                    <a:pt x="50165" y="1268984"/>
                    <a:pt x="0" y="1218819"/>
                    <a:pt x="0" y="1156970"/>
                  </a:cubicBezTo>
                  <a:close/>
                </a:path>
              </a:pathLst>
            </a:custGeom>
            <a:solidFill>
              <a:srgbClr val="F5F7F6"/>
            </a:solidFill>
            <a:ln w="19050" cap="sq">
              <a:solidFill>
                <a:srgbClr val="E2E6F0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5897880" y="7914132"/>
            <a:ext cx="329184" cy="329184"/>
            <a:chOff x="0" y="0"/>
            <a:chExt cx="438912" cy="43891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C8933E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6515100" y="7612380"/>
            <a:ext cx="10629900" cy="932688"/>
            <a:chOff x="0" y="0"/>
            <a:chExt cx="14173200" cy="1243584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4173200" cy="1243584"/>
            </a:xfrm>
            <a:custGeom>
              <a:avLst/>
              <a:gdLst/>
              <a:ahLst/>
              <a:cxnLst/>
              <a:rect r="r" b="b" t="t" l="l"/>
              <a:pathLst>
                <a:path h="1243584" w="14173200">
                  <a:moveTo>
                    <a:pt x="0" y="0"/>
                  </a:moveTo>
                  <a:lnTo>
                    <a:pt x="14173200" y="0"/>
                  </a:lnTo>
                  <a:lnTo>
                    <a:pt x="14173200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072" r="0" b="-172072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19050"/>
              <a:ext cx="14173200" cy="12626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39"/>
                </a:lnSpc>
              </a:pPr>
              <a:r>
                <a:rPr lang="en-US" sz="2449">
                  <a:solidFill>
                    <a:srgbClr val="26333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Exported results back to SQL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7145000" y="9806940"/>
            <a:ext cx="548640" cy="411480"/>
            <a:chOff x="0" y="0"/>
            <a:chExt cx="731520" cy="54864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19050"/>
              <a:ext cx="73152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F6B7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7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5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48640"/>
            <a:ext cx="13716000" cy="754380"/>
            <a:chOff x="0" y="0"/>
            <a:chExt cx="18288000" cy="1005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4273" r="0" b="-30427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8288000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6333A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Retail Sales Dashboard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344168"/>
            <a:ext cx="1234440" cy="82296"/>
            <a:chOff x="0" y="0"/>
            <a:chExt cx="1645920" cy="1097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45920" cy="109728"/>
            </a:xfrm>
            <a:custGeom>
              <a:avLst/>
              <a:gdLst/>
              <a:ahLst/>
              <a:cxnLst/>
              <a:rect r="r" b="b" t="t" l="l"/>
              <a:pathLst>
                <a:path h="109728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09728"/>
                  </a:lnTo>
                  <a:lnTo>
                    <a:pt x="0" y="109728"/>
                  </a:lnTo>
                  <a:close/>
                </a:path>
              </a:pathLst>
            </a:custGeom>
            <a:solidFill>
              <a:srgbClr val="C8933E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774133" y="1776222"/>
            <a:ext cx="13119903" cy="7197574"/>
            <a:chOff x="0" y="0"/>
            <a:chExt cx="18330707" cy="100562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330707" cy="10056220"/>
            </a:xfrm>
            <a:custGeom>
              <a:avLst/>
              <a:gdLst/>
              <a:ahLst/>
              <a:cxnLst/>
              <a:rect r="r" b="b" t="t" l="l"/>
              <a:pathLst>
                <a:path h="10056220" w="18330707">
                  <a:moveTo>
                    <a:pt x="0" y="144914"/>
                  </a:moveTo>
                  <a:cubicBezTo>
                    <a:pt x="0" y="64935"/>
                    <a:pt x="86525" y="0"/>
                    <a:pt x="193095" y="0"/>
                  </a:cubicBezTo>
                  <a:lnTo>
                    <a:pt x="18137611" y="0"/>
                  </a:lnTo>
                  <a:cubicBezTo>
                    <a:pt x="18244181" y="0"/>
                    <a:pt x="18330707" y="64935"/>
                    <a:pt x="18330707" y="144914"/>
                  </a:cubicBezTo>
                  <a:lnTo>
                    <a:pt x="18330707" y="9911307"/>
                  </a:lnTo>
                  <a:cubicBezTo>
                    <a:pt x="18330707" y="9991285"/>
                    <a:pt x="18244181" y="10056220"/>
                    <a:pt x="18137611" y="10056220"/>
                  </a:cubicBezTo>
                  <a:lnTo>
                    <a:pt x="193095" y="10056220"/>
                  </a:lnTo>
                  <a:cubicBezTo>
                    <a:pt x="86525" y="10056220"/>
                    <a:pt x="0" y="9991285"/>
                    <a:pt x="0" y="9911307"/>
                  </a:cubicBezTo>
                  <a:close/>
                </a:path>
              </a:pathLst>
            </a:custGeom>
            <a:blipFill>
              <a:blip r:embed="rId4"/>
              <a:stretch>
                <a:fillRect l="0" t="-338" r="0" b="-338"/>
              </a:stretch>
            </a:blipFill>
            <a:ln w="28575" cap="sq">
              <a:solidFill>
                <a:srgbClr val="5F6B70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4179786" y="1748790"/>
            <a:ext cx="3548853" cy="7225006"/>
            <a:chOff x="0" y="0"/>
            <a:chExt cx="4985502" cy="101498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985503" cy="10149840"/>
            </a:xfrm>
            <a:custGeom>
              <a:avLst/>
              <a:gdLst/>
              <a:ahLst/>
              <a:cxnLst/>
              <a:rect r="r" b="b" t="t" l="l"/>
              <a:pathLst>
                <a:path h="10149840" w="4985503">
                  <a:moveTo>
                    <a:pt x="0" y="146304"/>
                  </a:moveTo>
                  <a:cubicBezTo>
                    <a:pt x="0" y="65532"/>
                    <a:pt x="41546" y="0"/>
                    <a:pt x="92754" y="0"/>
                  </a:cubicBezTo>
                  <a:lnTo>
                    <a:pt x="4892749" y="0"/>
                  </a:lnTo>
                  <a:cubicBezTo>
                    <a:pt x="4943956" y="0"/>
                    <a:pt x="4985503" y="65532"/>
                    <a:pt x="4985503" y="146304"/>
                  </a:cubicBezTo>
                  <a:lnTo>
                    <a:pt x="4985503" y="10003536"/>
                  </a:lnTo>
                  <a:cubicBezTo>
                    <a:pt x="4985503" y="10084308"/>
                    <a:pt x="4943956" y="10149840"/>
                    <a:pt x="4892749" y="10149840"/>
                  </a:cubicBezTo>
                  <a:lnTo>
                    <a:pt x="92754" y="10149840"/>
                  </a:lnTo>
                  <a:cubicBezTo>
                    <a:pt x="41546" y="10149840"/>
                    <a:pt x="0" y="10084308"/>
                    <a:pt x="0" y="10003536"/>
                  </a:cubicBezTo>
                  <a:close/>
                </a:path>
              </a:pathLst>
            </a:custGeom>
            <a:solidFill>
              <a:srgbClr val="3C565A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4415516" y="2070354"/>
            <a:ext cx="5074920" cy="548640"/>
            <a:chOff x="0" y="0"/>
            <a:chExt cx="6766560" cy="7315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766560" cy="731520"/>
            </a:xfrm>
            <a:custGeom>
              <a:avLst/>
              <a:gdLst/>
              <a:ahLst/>
              <a:cxnLst/>
              <a:rect r="r" b="b" t="t" l="l"/>
              <a:pathLst>
                <a:path h="731520" w="6766560">
                  <a:moveTo>
                    <a:pt x="0" y="0"/>
                  </a:moveTo>
                  <a:lnTo>
                    <a:pt x="6766560" y="0"/>
                  </a:lnTo>
                  <a:lnTo>
                    <a:pt x="6766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0236" r="0" b="-130236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676656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59"/>
                </a:lnSpc>
              </a:pPr>
              <a:r>
                <a:rPr lang="en-US" sz="2549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Dashboard Includes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4790420" y="2809494"/>
            <a:ext cx="4937760" cy="480060"/>
            <a:chOff x="0" y="0"/>
            <a:chExt cx="6583680" cy="6400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583680" cy="640080"/>
            </a:xfrm>
            <a:custGeom>
              <a:avLst/>
              <a:gdLst/>
              <a:ahLst/>
              <a:cxnLst/>
              <a:rect r="r" b="b" t="t" l="l"/>
              <a:pathLst>
                <a:path h="64008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0417" r="0" b="-150417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658368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9"/>
                </a:lnSpc>
              </a:pPr>
              <a:r>
                <a:rPr lang="en-US" sz="2074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Total Orders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415516" y="3529965"/>
            <a:ext cx="246888" cy="246888"/>
            <a:chOff x="0" y="0"/>
            <a:chExt cx="329184" cy="32918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29184" cy="329184"/>
            </a:xfrm>
            <a:custGeom>
              <a:avLst/>
              <a:gdLst/>
              <a:ahLst/>
              <a:cxnLst/>
              <a:rect r="r" b="b" t="t" l="l"/>
              <a:pathLst>
                <a:path h="329184" w="329184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cubicBezTo>
                    <a:pt x="255524" y="0"/>
                    <a:pt x="329184" y="73660"/>
                    <a:pt x="329184" y="164592"/>
                  </a:cubicBezTo>
                  <a:cubicBezTo>
                    <a:pt x="329184" y="255524"/>
                    <a:pt x="255524" y="329184"/>
                    <a:pt x="164592" y="329184"/>
                  </a:cubicBezTo>
                  <a:cubicBezTo>
                    <a:pt x="73660" y="329184"/>
                    <a:pt x="0" y="255524"/>
                    <a:pt x="0" y="164592"/>
                  </a:cubicBezTo>
                  <a:close/>
                </a:path>
              </a:pathLst>
            </a:custGeom>
            <a:solidFill>
              <a:srgbClr val="C8933E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4790420" y="3413379"/>
            <a:ext cx="4937760" cy="480060"/>
            <a:chOff x="0" y="0"/>
            <a:chExt cx="6583680" cy="6400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583680" cy="640080"/>
            </a:xfrm>
            <a:custGeom>
              <a:avLst/>
              <a:gdLst/>
              <a:ahLst/>
              <a:cxnLst/>
              <a:rect r="r" b="b" t="t" l="l"/>
              <a:pathLst>
                <a:path h="64008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0417" r="0" b="-150417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658368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9"/>
                </a:lnSpc>
              </a:pPr>
              <a:r>
                <a:rPr lang="en-US" sz="2074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Active Customers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4415516" y="4130040"/>
            <a:ext cx="246888" cy="246888"/>
            <a:chOff x="0" y="0"/>
            <a:chExt cx="329184" cy="32918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29184" cy="329184"/>
            </a:xfrm>
            <a:custGeom>
              <a:avLst/>
              <a:gdLst/>
              <a:ahLst/>
              <a:cxnLst/>
              <a:rect r="r" b="b" t="t" l="l"/>
              <a:pathLst>
                <a:path h="329184" w="329184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cubicBezTo>
                    <a:pt x="255524" y="0"/>
                    <a:pt x="329184" y="73660"/>
                    <a:pt x="329184" y="164592"/>
                  </a:cubicBezTo>
                  <a:cubicBezTo>
                    <a:pt x="329184" y="255524"/>
                    <a:pt x="255524" y="329184"/>
                    <a:pt x="164592" y="329184"/>
                  </a:cubicBezTo>
                  <a:cubicBezTo>
                    <a:pt x="73660" y="329184"/>
                    <a:pt x="0" y="255524"/>
                    <a:pt x="0" y="164592"/>
                  </a:cubicBezTo>
                  <a:close/>
                </a:path>
              </a:pathLst>
            </a:custGeom>
            <a:solidFill>
              <a:srgbClr val="C8933E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4790420" y="4013454"/>
            <a:ext cx="4937760" cy="480060"/>
            <a:chOff x="0" y="0"/>
            <a:chExt cx="6583680" cy="6400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583680" cy="640080"/>
            </a:xfrm>
            <a:custGeom>
              <a:avLst/>
              <a:gdLst/>
              <a:ahLst/>
              <a:cxnLst/>
              <a:rect r="r" b="b" t="t" l="l"/>
              <a:pathLst>
                <a:path h="64008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0417" r="0" b="-150417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658368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9"/>
                </a:lnSpc>
              </a:pPr>
              <a:r>
                <a:rPr lang="en-US" sz="2074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Total Revenue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4415516" y="4691253"/>
            <a:ext cx="246888" cy="246888"/>
            <a:chOff x="0" y="0"/>
            <a:chExt cx="329184" cy="32918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29184" cy="329184"/>
            </a:xfrm>
            <a:custGeom>
              <a:avLst/>
              <a:gdLst/>
              <a:ahLst/>
              <a:cxnLst/>
              <a:rect r="r" b="b" t="t" l="l"/>
              <a:pathLst>
                <a:path h="329184" w="329184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cubicBezTo>
                    <a:pt x="255524" y="0"/>
                    <a:pt x="329184" y="73660"/>
                    <a:pt x="329184" y="164592"/>
                  </a:cubicBezTo>
                  <a:cubicBezTo>
                    <a:pt x="329184" y="255524"/>
                    <a:pt x="255524" y="329184"/>
                    <a:pt x="164592" y="329184"/>
                  </a:cubicBezTo>
                  <a:cubicBezTo>
                    <a:pt x="73660" y="329184"/>
                    <a:pt x="0" y="255524"/>
                    <a:pt x="0" y="164592"/>
                  </a:cubicBezTo>
                  <a:close/>
                </a:path>
              </a:pathLst>
            </a:custGeom>
            <a:solidFill>
              <a:srgbClr val="C8933E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4790420" y="4574667"/>
            <a:ext cx="4937760" cy="480060"/>
            <a:chOff x="0" y="0"/>
            <a:chExt cx="6583680" cy="6400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583680" cy="640080"/>
            </a:xfrm>
            <a:custGeom>
              <a:avLst/>
              <a:gdLst/>
              <a:ahLst/>
              <a:cxnLst/>
              <a:rect r="r" b="b" t="t" l="l"/>
              <a:pathLst>
                <a:path h="64008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0417" r="0" b="-150417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658368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9"/>
                </a:lnSpc>
              </a:pPr>
              <a:r>
                <a:rPr lang="en-US" sz="2074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Average Order Value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4415516" y="5328666"/>
            <a:ext cx="246888" cy="246888"/>
            <a:chOff x="0" y="0"/>
            <a:chExt cx="329184" cy="32918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29184" cy="329184"/>
            </a:xfrm>
            <a:custGeom>
              <a:avLst/>
              <a:gdLst/>
              <a:ahLst/>
              <a:cxnLst/>
              <a:rect r="r" b="b" t="t" l="l"/>
              <a:pathLst>
                <a:path h="329184" w="329184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cubicBezTo>
                    <a:pt x="255524" y="0"/>
                    <a:pt x="329184" y="73660"/>
                    <a:pt x="329184" y="164592"/>
                  </a:cubicBezTo>
                  <a:cubicBezTo>
                    <a:pt x="329184" y="255524"/>
                    <a:pt x="255524" y="329184"/>
                    <a:pt x="164592" y="329184"/>
                  </a:cubicBezTo>
                  <a:cubicBezTo>
                    <a:pt x="73660" y="329184"/>
                    <a:pt x="0" y="255524"/>
                    <a:pt x="0" y="164592"/>
                  </a:cubicBezTo>
                  <a:close/>
                </a:path>
              </a:pathLst>
            </a:custGeom>
            <a:solidFill>
              <a:srgbClr val="C8933E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4790420" y="5212080"/>
            <a:ext cx="4937760" cy="480060"/>
            <a:chOff x="0" y="0"/>
            <a:chExt cx="6583680" cy="6400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583680" cy="640080"/>
            </a:xfrm>
            <a:custGeom>
              <a:avLst/>
              <a:gdLst/>
              <a:ahLst/>
              <a:cxnLst/>
              <a:rect r="r" b="b" t="t" l="l"/>
              <a:pathLst>
                <a:path h="64008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0417" r="0" b="-150417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658368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9"/>
                </a:lnSpc>
              </a:pPr>
              <a:r>
                <a:rPr lang="en-US" sz="2074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Revenue by Segment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4415516" y="5808726"/>
            <a:ext cx="246888" cy="246888"/>
            <a:chOff x="0" y="0"/>
            <a:chExt cx="329184" cy="32918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29184" cy="329184"/>
            </a:xfrm>
            <a:custGeom>
              <a:avLst/>
              <a:gdLst/>
              <a:ahLst/>
              <a:cxnLst/>
              <a:rect r="r" b="b" t="t" l="l"/>
              <a:pathLst>
                <a:path h="329184" w="329184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cubicBezTo>
                    <a:pt x="255524" y="0"/>
                    <a:pt x="329184" y="73660"/>
                    <a:pt x="329184" y="164592"/>
                  </a:cubicBezTo>
                  <a:cubicBezTo>
                    <a:pt x="329184" y="255524"/>
                    <a:pt x="255524" y="329184"/>
                    <a:pt x="164592" y="329184"/>
                  </a:cubicBezTo>
                  <a:cubicBezTo>
                    <a:pt x="73660" y="329184"/>
                    <a:pt x="0" y="255524"/>
                    <a:pt x="0" y="164592"/>
                  </a:cubicBezTo>
                  <a:close/>
                </a:path>
              </a:pathLst>
            </a:custGeom>
            <a:solidFill>
              <a:srgbClr val="C8933E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4790420" y="5692140"/>
            <a:ext cx="4937760" cy="480060"/>
            <a:chOff x="0" y="0"/>
            <a:chExt cx="6583680" cy="64008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583680" cy="640080"/>
            </a:xfrm>
            <a:custGeom>
              <a:avLst/>
              <a:gdLst/>
              <a:ahLst/>
              <a:cxnLst/>
              <a:rect r="r" b="b" t="t" l="l"/>
              <a:pathLst>
                <a:path h="64008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0417" r="0" b="-150417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"/>
              <a:ext cx="658368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9"/>
                </a:lnSpc>
              </a:pPr>
              <a:r>
                <a:rPr lang="en-US" sz="2074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Sales by Store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4415516" y="6444615"/>
            <a:ext cx="246888" cy="246888"/>
            <a:chOff x="0" y="0"/>
            <a:chExt cx="329184" cy="32918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29184" cy="329184"/>
            </a:xfrm>
            <a:custGeom>
              <a:avLst/>
              <a:gdLst/>
              <a:ahLst/>
              <a:cxnLst/>
              <a:rect r="r" b="b" t="t" l="l"/>
              <a:pathLst>
                <a:path h="329184" w="329184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cubicBezTo>
                    <a:pt x="255524" y="0"/>
                    <a:pt x="329184" y="73660"/>
                    <a:pt x="329184" y="164592"/>
                  </a:cubicBezTo>
                  <a:cubicBezTo>
                    <a:pt x="329184" y="255524"/>
                    <a:pt x="255524" y="329184"/>
                    <a:pt x="164592" y="329184"/>
                  </a:cubicBezTo>
                  <a:cubicBezTo>
                    <a:pt x="73660" y="329184"/>
                    <a:pt x="0" y="255524"/>
                    <a:pt x="0" y="164592"/>
                  </a:cubicBezTo>
                  <a:close/>
                </a:path>
              </a:pathLst>
            </a:custGeom>
            <a:solidFill>
              <a:srgbClr val="C8933E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4790420" y="6316409"/>
            <a:ext cx="4937760" cy="480060"/>
            <a:chOff x="0" y="0"/>
            <a:chExt cx="6583680" cy="6400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583680" cy="640080"/>
            </a:xfrm>
            <a:custGeom>
              <a:avLst/>
              <a:gdLst/>
              <a:ahLst/>
              <a:cxnLst/>
              <a:rect r="r" b="b" t="t" l="l"/>
              <a:pathLst>
                <a:path h="64008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0417" r="0" b="-150417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658368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9"/>
                </a:lnSpc>
              </a:pPr>
              <a:r>
                <a:rPr lang="en-US" sz="2074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Monthly Sales Trend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4415516" y="7082028"/>
            <a:ext cx="246888" cy="246888"/>
            <a:chOff x="0" y="0"/>
            <a:chExt cx="329184" cy="32918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29184" cy="329184"/>
            </a:xfrm>
            <a:custGeom>
              <a:avLst/>
              <a:gdLst/>
              <a:ahLst/>
              <a:cxnLst/>
              <a:rect r="r" b="b" t="t" l="l"/>
              <a:pathLst>
                <a:path h="329184" w="329184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cubicBezTo>
                    <a:pt x="255524" y="0"/>
                    <a:pt x="329184" y="73660"/>
                    <a:pt x="329184" y="164592"/>
                  </a:cubicBezTo>
                  <a:cubicBezTo>
                    <a:pt x="329184" y="255524"/>
                    <a:pt x="255524" y="329184"/>
                    <a:pt x="164592" y="329184"/>
                  </a:cubicBezTo>
                  <a:cubicBezTo>
                    <a:pt x="73660" y="329184"/>
                    <a:pt x="0" y="255524"/>
                    <a:pt x="0" y="164592"/>
                  </a:cubicBezTo>
                  <a:close/>
                </a:path>
              </a:pathLst>
            </a:custGeom>
            <a:solidFill>
              <a:srgbClr val="C8933E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4790420" y="6939344"/>
            <a:ext cx="4937760" cy="480060"/>
            <a:chOff x="0" y="0"/>
            <a:chExt cx="6583680" cy="64008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583680" cy="640080"/>
            </a:xfrm>
            <a:custGeom>
              <a:avLst/>
              <a:gdLst/>
              <a:ahLst/>
              <a:cxnLst/>
              <a:rect r="r" b="b" t="t" l="l"/>
              <a:pathLst>
                <a:path h="64008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0417" r="0" b="-150417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"/>
              <a:ext cx="658368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9"/>
                </a:lnSpc>
              </a:pPr>
              <a:r>
                <a:rPr lang="en-US" sz="2074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Customer Segmentation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4415516" y="7639812"/>
            <a:ext cx="246888" cy="246888"/>
            <a:chOff x="0" y="0"/>
            <a:chExt cx="329184" cy="329184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29184" cy="329184"/>
            </a:xfrm>
            <a:custGeom>
              <a:avLst/>
              <a:gdLst/>
              <a:ahLst/>
              <a:cxnLst/>
              <a:rect r="r" b="b" t="t" l="l"/>
              <a:pathLst>
                <a:path h="329184" w="329184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cubicBezTo>
                    <a:pt x="255524" y="0"/>
                    <a:pt x="329184" y="73660"/>
                    <a:pt x="329184" y="164592"/>
                  </a:cubicBezTo>
                  <a:cubicBezTo>
                    <a:pt x="329184" y="255524"/>
                    <a:pt x="255524" y="329184"/>
                    <a:pt x="164592" y="329184"/>
                  </a:cubicBezTo>
                  <a:cubicBezTo>
                    <a:pt x="73660" y="329184"/>
                    <a:pt x="0" y="255524"/>
                    <a:pt x="0" y="164592"/>
                  </a:cubicBezTo>
                  <a:close/>
                </a:path>
              </a:pathLst>
            </a:custGeom>
            <a:solidFill>
              <a:srgbClr val="C8933E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4790420" y="7543229"/>
            <a:ext cx="4937760" cy="480060"/>
            <a:chOff x="0" y="0"/>
            <a:chExt cx="6583680" cy="64008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583680" cy="640080"/>
            </a:xfrm>
            <a:custGeom>
              <a:avLst/>
              <a:gdLst/>
              <a:ahLst/>
              <a:cxnLst/>
              <a:rect r="r" b="b" t="t" l="l"/>
              <a:pathLst>
                <a:path h="64008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0417" r="0" b="-150417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9525"/>
              <a:ext cx="658368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9"/>
                </a:lnSpc>
              </a:pPr>
              <a:r>
                <a:rPr lang="en-US" sz="2074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Product Sales Table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4790420" y="8084439"/>
            <a:ext cx="4937760" cy="480060"/>
            <a:chOff x="0" y="0"/>
            <a:chExt cx="6583680" cy="64008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583680" cy="640080"/>
            </a:xfrm>
            <a:custGeom>
              <a:avLst/>
              <a:gdLst/>
              <a:ahLst/>
              <a:cxnLst/>
              <a:rect r="r" b="b" t="t" l="l"/>
              <a:pathLst>
                <a:path h="64008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0417" r="0" b="-150417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9525"/>
              <a:ext cx="658368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9"/>
                </a:lnSpc>
              </a:pPr>
              <a:r>
                <a:rPr lang="en-US" sz="2074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Interactive Filters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7145000" y="9806940"/>
            <a:ext cx="548640" cy="411480"/>
            <a:chOff x="0" y="0"/>
            <a:chExt cx="731520" cy="54864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19050"/>
              <a:ext cx="73152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F6B7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8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4415516" y="8201025"/>
            <a:ext cx="246888" cy="246888"/>
            <a:chOff x="0" y="0"/>
            <a:chExt cx="329184" cy="329184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29184" cy="329184"/>
            </a:xfrm>
            <a:custGeom>
              <a:avLst/>
              <a:gdLst/>
              <a:ahLst/>
              <a:cxnLst/>
              <a:rect r="r" b="b" t="t" l="l"/>
              <a:pathLst>
                <a:path h="329184" w="329184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cubicBezTo>
                    <a:pt x="255524" y="0"/>
                    <a:pt x="329184" y="73660"/>
                    <a:pt x="329184" y="164592"/>
                  </a:cubicBezTo>
                  <a:cubicBezTo>
                    <a:pt x="329184" y="255524"/>
                    <a:pt x="255524" y="329184"/>
                    <a:pt x="164592" y="329184"/>
                  </a:cubicBezTo>
                  <a:cubicBezTo>
                    <a:pt x="73660" y="329184"/>
                    <a:pt x="0" y="255524"/>
                    <a:pt x="0" y="164592"/>
                  </a:cubicBezTo>
                  <a:close/>
                </a:path>
              </a:pathLst>
            </a:custGeom>
            <a:solidFill>
              <a:srgbClr val="C8933E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4415516" y="2949702"/>
            <a:ext cx="246888" cy="246888"/>
            <a:chOff x="0" y="0"/>
            <a:chExt cx="329184" cy="329184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29184" cy="329184"/>
            </a:xfrm>
            <a:custGeom>
              <a:avLst/>
              <a:gdLst/>
              <a:ahLst/>
              <a:cxnLst/>
              <a:rect r="r" b="b" t="t" l="l"/>
              <a:pathLst>
                <a:path h="329184" w="329184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cubicBezTo>
                    <a:pt x="255524" y="0"/>
                    <a:pt x="329184" y="73660"/>
                    <a:pt x="329184" y="164592"/>
                  </a:cubicBezTo>
                  <a:cubicBezTo>
                    <a:pt x="329184" y="255524"/>
                    <a:pt x="255524" y="329184"/>
                    <a:pt x="164592" y="329184"/>
                  </a:cubicBezTo>
                  <a:cubicBezTo>
                    <a:pt x="73660" y="329184"/>
                    <a:pt x="0" y="255524"/>
                    <a:pt x="0" y="164592"/>
                  </a:cubicBezTo>
                  <a:close/>
                </a:path>
              </a:pathLst>
            </a:custGeom>
            <a:solidFill>
              <a:srgbClr val="C8933E"/>
            </a:solid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5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48640"/>
            <a:ext cx="13716000" cy="754380"/>
            <a:chOff x="0" y="0"/>
            <a:chExt cx="18288000" cy="1005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4273" r="0" b="-30427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8288000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6333A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Revenue Analysis Dashboard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344168"/>
            <a:ext cx="1234440" cy="82296"/>
            <a:chOff x="0" y="0"/>
            <a:chExt cx="1645920" cy="1097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45920" cy="109728"/>
            </a:xfrm>
            <a:custGeom>
              <a:avLst/>
              <a:gdLst/>
              <a:ahLst/>
              <a:cxnLst/>
              <a:rect r="r" b="b" t="t" l="l"/>
              <a:pathLst>
                <a:path h="109728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09728"/>
                  </a:lnTo>
                  <a:lnTo>
                    <a:pt x="0" y="109728"/>
                  </a:lnTo>
                  <a:close/>
                </a:path>
              </a:pathLst>
            </a:custGeom>
            <a:solidFill>
              <a:srgbClr val="C8933E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3566236" y="2194560"/>
            <a:ext cx="4492830" cy="5798885"/>
            <a:chOff x="0" y="0"/>
            <a:chExt cx="7863840" cy="101498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863840" cy="10149840"/>
            </a:xfrm>
            <a:custGeom>
              <a:avLst/>
              <a:gdLst/>
              <a:ahLst/>
              <a:cxnLst/>
              <a:rect r="r" b="b" t="t" l="l"/>
              <a:pathLst>
                <a:path h="10149840" w="78638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7717536" y="0"/>
                  </a:lnTo>
                  <a:cubicBezTo>
                    <a:pt x="7798308" y="0"/>
                    <a:pt x="7863840" y="65532"/>
                    <a:pt x="7863840" y="146304"/>
                  </a:cubicBezTo>
                  <a:lnTo>
                    <a:pt x="7863840" y="10003536"/>
                  </a:lnTo>
                  <a:cubicBezTo>
                    <a:pt x="7863840" y="10084308"/>
                    <a:pt x="7798308" y="10149840"/>
                    <a:pt x="7717536" y="10149840"/>
                  </a:cubicBezTo>
                  <a:lnTo>
                    <a:pt x="146304" y="10149840"/>
                  </a:lnTo>
                  <a:cubicBezTo>
                    <a:pt x="65532" y="10149840"/>
                    <a:pt x="0" y="10084308"/>
                    <a:pt x="0" y="10003536"/>
                  </a:cubicBezTo>
                  <a:close/>
                </a:path>
              </a:pathLst>
            </a:custGeom>
            <a:solidFill>
              <a:srgbClr val="3C565A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3806455" y="2327148"/>
            <a:ext cx="5074920" cy="548640"/>
            <a:chOff x="0" y="0"/>
            <a:chExt cx="6766560" cy="7315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766560" cy="731520"/>
            </a:xfrm>
            <a:custGeom>
              <a:avLst/>
              <a:gdLst/>
              <a:ahLst/>
              <a:cxnLst/>
              <a:rect r="r" b="b" t="t" l="l"/>
              <a:pathLst>
                <a:path h="731520" w="6766560">
                  <a:moveTo>
                    <a:pt x="0" y="0"/>
                  </a:moveTo>
                  <a:lnTo>
                    <a:pt x="6766560" y="0"/>
                  </a:lnTo>
                  <a:lnTo>
                    <a:pt x="6766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0236" r="0" b="-130236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676656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39"/>
                </a:lnSpc>
              </a:pPr>
              <a:r>
                <a:rPr lang="en-US" sz="2449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Visualizations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806455" y="3127248"/>
            <a:ext cx="274320" cy="274320"/>
            <a:chOff x="0" y="0"/>
            <a:chExt cx="365760" cy="3657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65760" cy="365760"/>
            </a:xfrm>
            <a:custGeom>
              <a:avLst/>
              <a:gdLst/>
              <a:ahLst/>
              <a:cxnLst/>
              <a:rect r="r" b="b" t="t" l="l"/>
              <a:pathLst>
                <a:path h="365760" w="3657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cubicBezTo>
                    <a:pt x="283845" y="0"/>
                    <a:pt x="365760" y="81915"/>
                    <a:pt x="365760" y="182880"/>
                  </a:cubicBezTo>
                  <a:cubicBezTo>
                    <a:pt x="365760" y="283845"/>
                    <a:pt x="283845" y="365760"/>
                    <a:pt x="182880" y="365760"/>
                  </a:cubicBezTo>
                  <a:cubicBezTo>
                    <a:pt x="81915" y="365760"/>
                    <a:pt x="0" y="283845"/>
                    <a:pt x="0" y="182880"/>
                  </a:cubicBezTo>
                  <a:close/>
                </a:path>
              </a:pathLst>
            </a:custGeom>
            <a:solidFill>
              <a:srgbClr val="C8933E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4302531" y="2875788"/>
            <a:ext cx="4937760" cy="685800"/>
            <a:chOff x="0" y="0"/>
            <a:chExt cx="6583680" cy="914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583680" cy="914400"/>
            </a:xfrm>
            <a:custGeom>
              <a:avLst/>
              <a:gdLst/>
              <a:ahLst/>
              <a:cxnLst/>
              <a:rect r="r" b="b" t="t" l="l"/>
              <a:pathLst>
                <a:path h="91440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292" r="0" b="-9029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658368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49"/>
                </a:lnSpc>
              </a:pPr>
              <a:r>
                <a:rPr lang="en-US" sz="2374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Revenue by City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806455" y="4046220"/>
            <a:ext cx="274320" cy="274320"/>
            <a:chOff x="0" y="0"/>
            <a:chExt cx="365760" cy="3657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65760" cy="365760"/>
            </a:xfrm>
            <a:custGeom>
              <a:avLst/>
              <a:gdLst/>
              <a:ahLst/>
              <a:cxnLst/>
              <a:rect r="r" b="b" t="t" l="l"/>
              <a:pathLst>
                <a:path h="365760" w="3657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cubicBezTo>
                    <a:pt x="283845" y="0"/>
                    <a:pt x="365760" y="81915"/>
                    <a:pt x="365760" y="182880"/>
                  </a:cubicBezTo>
                  <a:cubicBezTo>
                    <a:pt x="365760" y="283845"/>
                    <a:pt x="283845" y="365760"/>
                    <a:pt x="182880" y="365760"/>
                  </a:cubicBezTo>
                  <a:cubicBezTo>
                    <a:pt x="81915" y="365760"/>
                    <a:pt x="0" y="283845"/>
                    <a:pt x="0" y="182880"/>
                  </a:cubicBezTo>
                  <a:close/>
                </a:path>
              </a:pathLst>
            </a:custGeom>
            <a:solidFill>
              <a:srgbClr val="C8933E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4302531" y="3840480"/>
            <a:ext cx="4937760" cy="685800"/>
            <a:chOff x="0" y="0"/>
            <a:chExt cx="6583680" cy="914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583680" cy="914400"/>
            </a:xfrm>
            <a:custGeom>
              <a:avLst/>
              <a:gdLst/>
              <a:ahLst/>
              <a:cxnLst/>
              <a:rect r="r" b="b" t="t" l="l"/>
              <a:pathLst>
                <a:path h="91440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292" r="0" b="-90292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658368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29"/>
                </a:lnSpc>
              </a:pPr>
              <a:r>
                <a:rPr lang="en-US" sz="2274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Revenue by State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3806455" y="4896612"/>
            <a:ext cx="274320" cy="274320"/>
            <a:chOff x="0" y="0"/>
            <a:chExt cx="365760" cy="3657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65760" cy="365760"/>
            </a:xfrm>
            <a:custGeom>
              <a:avLst/>
              <a:gdLst/>
              <a:ahLst/>
              <a:cxnLst/>
              <a:rect r="r" b="b" t="t" l="l"/>
              <a:pathLst>
                <a:path h="365760" w="3657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cubicBezTo>
                    <a:pt x="283845" y="0"/>
                    <a:pt x="365760" y="81915"/>
                    <a:pt x="365760" y="182880"/>
                  </a:cubicBezTo>
                  <a:cubicBezTo>
                    <a:pt x="365760" y="283845"/>
                    <a:pt x="283845" y="365760"/>
                    <a:pt x="182880" y="365760"/>
                  </a:cubicBezTo>
                  <a:cubicBezTo>
                    <a:pt x="81915" y="365760"/>
                    <a:pt x="0" y="283845"/>
                    <a:pt x="0" y="182880"/>
                  </a:cubicBezTo>
                  <a:close/>
                </a:path>
              </a:pathLst>
            </a:custGeom>
            <a:solidFill>
              <a:srgbClr val="C8933E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4302531" y="4690872"/>
            <a:ext cx="4937760" cy="685800"/>
            <a:chOff x="0" y="0"/>
            <a:chExt cx="6583680" cy="914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583680" cy="914400"/>
            </a:xfrm>
            <a:custGeom>
              <a:avLst/>
              <a:gdLst/>
              <a:ahLst/>
              <a:cxnLst/>
              <a:rect r="r" b="b" t="t" l="l"/>
              <a:pathLst>
                <a:path h="91440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292" r="0" b="-90292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658368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49"/>
                </a:lnSpc>
              </a:pPr>
              <a:r>
                <a:rPr lang="en-US" sz="2374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Revenue by Product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3806455" y="5829300"/>
            <a:ext cx="274320" cy="274320"/>
            <a:chOff x="0" y="0"/>
            <a:chExt cx="365760" cy="3657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65760" cy="365760"/>
            </a:xfrm>
            <a:custGeom>
              <a:avLst/>
              <a:gdLst/>
              <a:ahLst/>
              <a:cxnLst/>
              <a:rect r="r" b="b" t="t" l="l"/>
              <a:pathLst>
                <a:path h="365760" w="3657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cubicBezTo>
                    <a:pt x="283845" y="0"/>
                    <a:pt x="365760" y="81915"/>
                    <a:pt x="365760" y="182880"/>
                  </a:cubicBezTo>
                  <a:cubicBezTo>
                    <a:pt x="365760" y="283845"/>
                    <a:pt x="283845" y="365760"/>
                    <a:pt x="182880" y="365760"/>
                  </a:cubicBezTo>
                  <a:cubicBezTo>
                    <a:pt x="81915" y="365760"/>
                    <a:pt x="0" y="283845"/>
                    <a:pt x="0" y="182880"/>
                  </a:cubicBezTo>
                  <a:close/>
                </a:path>
              </a:pathLst>
            </a:custGeom>
            <a:solidFill>
              <a:srgbClr val="C8933E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4302531" y="5623560"/>
            <a:ext cx="4937760" cy="685800"/>
            <a:chOff x="0" y="0"/>
            <a:chExt cx="6583680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583680" cy="914400"/>
            </a:xfrm>
            <a:custGeom>
              <a:avLst/>
              <a:gdLst/>
              <a:ahLst/>
              <a:cxnLst/>
              <a:rect r="r" b="b" t="t" l="l"/>
              <a:pathLst>
                <a:path h="91440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292" r="0" b="-90292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658368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49"/>
                </a:lnSpc>
              </a:pPr>
              <a:r>
                <a:rPr lang="en-US" sz="2374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Top Customers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3806455" y="6677025"/>
            <a:ext cx="274320" cy="274320"/>
            <a:chOff x="0" y="0"/>
            <a:chExt cx="365760" cy="36576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65760" cy="365760"/>
            </a:xfrm>
            <a:custGeom>
              <a:avLst/>
              <a:gdLst/>
              <a:ahLst/>
              <a:cxnLst/>
              <a:rect r="r" b="b" t="t" l="l"/>
              <a:pathLst>
                <a:path h="365760" w="3657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cubicBezTo>
                    <a:pt x="283845" y="0"/>
                    <a:pt x="365760" y="81915"/>
                    <a:pt x="365760" y="182880"/>
                  </a:cubicBezTo>
                  <a:cubicBezTo>
                    <a:pt x="365760" y="283845"/>
                    <a:pt x="283845" y="365760"/>
                    <a:pt x="182880" y="365760"/>
                  </a:cubicBezTo>
                  <a:cubicBezTo>
                    <a:pt x="81915" y="365760"/>
                    <a:pt x="0" y="283845"/>
                    <a:pt x="0" y="182880"/>
                  </a:cubicBezTo>
                  <a:close/>
                </a:path>
              </a:pathLst>
            </a:custGeom>
            <a:solidFill>
              <a:srgbClr val="C8933E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4302531" y="6471285"/>
            <a:ext cx="4937760" cy="685800"/>
            <a:chOff x="0" y="0"/>
            <a:chExt cx="6583680" cy="9144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583680" cy="914400"/>
            </a:xfrm>
            <a:custGeom>
              <a:avLst/>
              <a:gdLst/>
              <a:ahLst/>
              <a:cxnLst/>
              <a:rect r="r" b="b" t="t" l="l"/>
              <a:pathLst>
                <a:path h="91440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292" r="0" b="-90292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658368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49"/>
                </a:lnSpc>
              </a:pPr>
              <a:r>
                <a:rPr lang="en-US" sz="2374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Monthly Sales Trend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7145000" y="9806940"/>
            <a:ext cx="548640" cy="411480"/>
            <a:chOff x="0" y="0"/>
            <a:chExt cx="731520" cy="5486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73152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F6B7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9</a:t>
              </a:r>
            </a:p>
          </p:txBody>
        </p:sp>
      </p:grpSp>
      <p:sp>
        <p:nvSpPr>
          <p:cNvPr name="Freeform 40" id="40"/>
          <p:cNvSpPr/>
          <p:nvPr/>
        </p:nvSpPr>
        <p:spPr>
          <a:xfrm flipH="false" flipV="false" rot="0">
            <a:off x="822960" y="1752231"/>
            <a:ext cx="12580874" cy="7056858"/>
          </a:xfrm>
          <a:custGeom>
            <a:avLst/>
            <a:gdLst/>
            <a:ahLst/>
            <a:cxnLst/>
            <a:rect r="r" b="b" t="t" l="l"/>
            <a:pathLst>
              <a:path h="7056858" w="12580874">
                <a:moveTo>
                  <a:pt x="0" y="0"/>
                </a:moveTo>
                <a:lnTo>
                  <a:pt x="12580874" y="0"/>
                </a:lnTo>
                <a:lnTo>
                  <a:pt x="12580874" y="7056858"/>
                </a:lnTo>
                <a:lnTo>
                  <a:pt x="0" y="70568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38100" cap="sq">
            <a:solidFill>
              <a:srgbClr val="5F6B70"/>
            </a:solidFill>
            <a:prstDash val="solid"/>
            <a:miter/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DE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48640"/>
            <a:ext cx="13716000" cy="754380"/>
            <a:chOff x="0" y="0"/>
            <a:chExt cx="18288000" cy="1005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4273" r="0" b="-30427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8288000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26333A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Business Insights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371600"/>
            <a:ext cx="1234440" cy="82296"/>
            <a:chOff x="0" y="0"/>
            <a:chExt cx="1645920" cy="1097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45920" cy="109728"/>
            </a:xfrm>
            <a:custGeom>
              <a:avLst/>
              <a:gdLst/>
              <a:ahLst/>
              <a:cxnLst/>
              <a:rect r="r" b="b" t="t" l="l"/>
              <a:pathLst>
                <a:path h="109728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09728"/>
                  </a:lnTo>
                  <a:lnTo>
                    <a:pt x="0" y="109728"/>
                  </a:lnTo>
                  <a:close/>
                </a:path>
              </a:pathLst>
            </a:custGeom>
            <a:solidFill>
              <a:srgbClr val="C8933E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822960" y="1851660"/>
            <a:ext cx="3909060" cy="1851660"/>
            <a:chOff x="0" y="0"/>
            <a:chExt cx="5212080" cy="24688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212080" cy="2468880"/>
            </a:xfrm>
            <a:custGeom>
              <a:avLst/>
              <a:gdLst/>
              <a:ahLst/>
              <a:cxnLst/>
              <a:rect r="r" b="b" t="t" l="l"/>
              <a:pathLst>
                <a:path h="2468880" w="52120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065776" y="0"/>
                  </a:lnTo>
                  <a:cubicBezTo>
                    <a:pt x="5146548" y="0"/>
                    <a:pt x="5212080" y="65532"/>
                    <a:pt x="5212080" y="146304"/>
                  </a:cubicBezTo>
                  <a:lnTo>
                    <a:pt x="5212080" y="2322576"/>
                  </a:lnTo>
                  <a:cubicBezTo>
                    <a:pt x="5212080" y="2403348"/>
                    <a:pt x="5146548" y="2468880"/>
                    <a:pt x="5065776" y="2468880"/>
                  </a:cubicBezTo>
                  <a:lnTo>
                    <a:pt x="146304" y="2468880"/>
                  </a:lnTo>
                  <a:cubicBezTo>
                    <a:pt x="65532" y="2468880"/>
                    <a:pt x="0" y="2403348"/>
                    <a:pt x="0" y="2322576"/>
                  </a:cubicBezTo>
                  <a:close/>
                </a:path>
              </a:pathLst>
            </a:custGeom>
            <a:solidFill>
              <a:srgbClr val="3C565A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822960" y="1988820"/>
            <a:ext cx="3909060" cy="960120"/>
            <a:chOff x="0" y="0"/>
            <a:chExt cx="5212080" cy="12801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2120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331" r="0" b="-2933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521208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79"/>
                </a:lnSpc>
              </a:pPr>
              <a:r>
                <a:rPr lang="en-US" b="true" sz="4399">
                  <a:solidFill>
                    <a:srgbClr val="C58114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7.69M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22960" y="3017520"/>
            <a:ext cx="3909060" cy="548640"/>
            <a:chOff x="0" y="0"/>
            <a:chExt cx="5212080" cy="7315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212080" cy="731520"/>
            </a:xfrm>
            <a:custGeom>
              <a:avLst/>
              <a:gdLst/>
              <a:ahLst/>
              <a:cxnLst/>
              <a:rect r="r" b="b" t="t" l="l"/>
              <a:pathLst>
                <a:path h="73152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830" r="0" b="-8883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521208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99"/>
                </a:lnSpc>
              </a:pPr>
              <a:r>
                <a:rPr lang="en-US" sz="1999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Total Revenue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006340" y="1851660"/>
            <a:ext cx="3909060" cy="1851660"/>
            <a:chOff x="0" y="0"/>
            <a:chExt cx="5212080" cy="24688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212080" cy="2468880"/>
            </a:xfrm>
            <a:custGeom>
              <a:avLst/>
              <a:gdLst/>
              <a:ahLst/>
              <a:cxnLst/>
              <a:rect r="r" b="b" t="t" l="l"/>
              <a:pathLst>
                <a:path h="2468880" w="52120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065776" y="0"/>
                  </a:lnTo>
                  <a:cubicBezTo>
                    <a:pt x="5146548" y="0"/>
                    <a:pt x="5212080" y="65532"/>
                    <a:pt x="5212080" y="146304"/>
                  </a:cubicBezTo>
                  <a:lnTo>
                    <a:pt x="5212080" y="2322576"/>
                  </a:lnTo>
                  <a:cubicBezTo>
                    <a:pt x="5212080" y="2403348"/>
                    <a:pt x="5146548" y="2468880"/>
                    <a:pt x="5065776" y="2468880"/>
                  </a:cubicBezTo>
                  <a:lnTo>
                    <a:pt x="146304" y="2468880"/>
                  </a:lnTo>
                  <a:cubicBezTo>
                    <a:pt x="65532" y="2468880"/>
                    <a:pt x="0" y="2403348"/>
                    <a:pt x="0" y="2322576"/>
                  </a:cubicBezTo>
                  <a:close/>
                </a:path>
              </a:pathLst>
            </a:custGeom>
            <a:solidFill>
              <a:srgbClr val="3C565A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5006340" y="1988820"/>
            <a:ext cx="3909060" cy="960120"/>
            <a:chOff x="0" y="0"/>
            <a:chExt cx="5212080" cy="12801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2120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331" r="0" b="-29331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521208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79"/>
                </a:lnSpc>
              </a:pPr>
              <a:r>
                <a:rPr lang="en-US" sz="4399" b="true">
                  <a:solidFill>
                    <a:srgbClr val="C8933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4.72K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006340" y="3017520"/>
            <a:ext cx="3909060" cy="548640"/>
            <a:chOff x="0" y="0"/>
            <a:chExt cx="5212080" cy="7315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212080" cy="731520"/>
            </a:xfrm>
            <a:custGeom>
              <a:avLst/>
              <a:gdLst/>
              <a:ahLst/>
              <a:cxnLst/>
              <a:rect r="r" b="b" t="t" l="l"/>
              <a:pathLst>
                <a:path h="73152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830" r="0" b="-8883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521208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99"/>
                </a:lnSpc>
              </a:pPr>
              <a:r>
                <a:rPr lang="en-US" sz="1999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Total Orders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189720" y="1851660"/>
            <a:ext cx="3909060" cy="1851660"/>
            <a:chOff x="0" y="0"/>
            <a:chExt cx="5212080" cy="24688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212080" cy="2468880"/>
            </a:xfrm>
            <a:custGeom>
              <a:avLst/>
              <a:gdLst/>
              <a:ahLst/>
              <a:cxnLst/>
              <a:rect r="r" b="b" t="t" l="l"/>
              <a:pathLst>
                <a:path h="2468880" w="52120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065776" y="0"/>
                  </a:lnTo>
                  <a:cubicBezTo>
                    <a:pt x="5146548" y="0"/>
                    <a:pt x="5212080" y="65532"/>
                    <a:pt x="5212080" y="146304"/>
                  </a:cubicBezTo>
                  <a:lnTo>
                    <a:pt x="5212080" y="2322576"/>
                  </a:lnTo>
                  <a:cubicBezTo>
                    <a:pt x="5212080" y="2403348"/>
                    <a:pt x="5146548" y="2468880"/>
                    <a:pt x="5065776" y="2468880"/>
                  </a:cubicBezTo>
                  <a:lnTo>
                    <a:pt x="146304" y="2468880"/>
                  </a:lnTo>
                  <a:cubicBezTo>
                    <a:pt x="65532" y="2468880"/>
                    <a:pt x="0" y="2403348"/>
                    <a:pt x="0" y="2322576"/>
                  </a:cubicBezTo>
                  <a:close/>
                </a:path>
              </a:pathLst>
            </a:custGeom>
            <a:solidFill>
              <a:srgbClr val="3C565A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189720" y="1988820"/>
            <a:ext cx="3909060" cy="960120"/>
            <a:chOff x="0" y="0"/>
            <a:chExt cx="5212080" cy="12801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2120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331" r="0" b="-29331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521208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79"/>
                </a:lnSpc>
              </a:pPr>
              <a:r>
                <a:rPr lang="en-US" sz="4399" b="true">
                  <a:solidFill>
                    <a:srgbClr val="C8933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1.45K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189720" y="3017520"/>
            <a:ext cx="3909060" cy="548640"/>
            <a:chOff x="0" y="0"/>
            <a:chExt cx="5212080" cy="7315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212080" cy="731520"/>
            </a:xfrm>
            <a:custGeom>
              <a:avLst/>
              <a:gdLst/>
              <a:ahLst/>
              <a:cxnLst/>
              <a:rect r="r" b="b" t="t" l="l"/>
              <a:pathLst>
                <a:path h="73152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830" r="0" b="-8883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521208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99"/>
                </a:lnSpc>
              </a:pPr>
              <a:r>
                <a:rPr lang="en-US" sz="1999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Active Customers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3373100" y="1851660"/>
            <a:ext cx="3909060" cy="1851660"/>
            <a:chOff x="0" y="0"/>
            <a:chExt cx="5212080" cy="24688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212080" cy="2468880"/>
            </a:xfrm>
            <a:custGeom>
              <a:avLst/>
              <a:gdLst/>
              <a:ahLst/>
              <a:cxnLst/>
              <a:rect r="r" b="b" t="t" l="l"/>
              <a:pathLst>
                <a:path h="2468880" w="52120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065776" y="0"/>
                  </a:lnTo>
                  <a:cubicBezTo>
                    <a:pt x="5146548" y="0"/>
                    <a:pt x="5212080" y="65532"/>
                    <a:pt x="5212080" y="146304"/>
                  </a:cubicBezTo>
                  <a:lnTo>
                    <a:pt x="5212080" y="2322576"/>
                  </a:lnTo>
                  <a:cubicBezTo>
                    <a:pt x="5212080" y="2403348"/>
                    <a:pt x="5146548" y="2468880"/>
                    <a:pt x="5065776" y="2468880"/>
                  </a:cubicBezTo>
                  <a:lnTo>
                    <a:pt x="146304" y="2468880"/>
                  </a:lnTo>
                  <a:cubicBezTo>
                    <a:pt x="65532" y="2468880"/>
                    <a:pt x="0" y="2403348"/>
                    <a:pt x="0" y="2322576"/>
                  </a:cubicBezTo>
                  <a:close/>
                </a:path>
              </a:pathLst>
            </a:custGeom>
            <a:solidFill>
              <a:srgbClr val="3C565A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3373100" y="1988820"/>
            <a:ext cx="3909060" cy="960120"/>
            <a:chOff x="0" y="0"/>
            <a:chExt cx="5212080" cy="128016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2120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331" r="0" b="-29331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521208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79"/>
                </a:lnSpc>
              </a:pPr>
              <a:r>
                <a:rPr lang="en-US" sz="4399" b="true">
                  <a:solidFill>
                    <a:srgbClr val="C8933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1.63K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3373100" y="3017520"/>
            <a:ext cx="3909060" cy="548640"/>
            <a:chOff x="0" y="0"/>
            <a:chExt cx="5212080" cy="7315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212080" cy="731520"/>
            </a:xfrm>
            <a:custGeom>
              <a:avLst/>
              <a:gdLst/>
              <a:ahLst/>
              <a:cxnLst/>
              <a:rect r="r" b="b" t="t" l="l"/>
              <a:pathLst>
                <a:path h="73152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830" r="0" b="-8883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"/>
              <a:ext cx="521208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99"/>
                </a:lnSpc>
              </a:pPr>
              <a:r>
                <a:rPr lang="en-US" sz="1999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Avg. Order Value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813435" y="4242435"/>
            <a:ext cx="16615410" cy="1006602"/>
            <a:chOff x="0" y="0"/>
            <a:chExt cx="22153880" cy="134213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2153880" cy="1342136"/>
            </a:xfrm>
            <a:custGeom>
              <a:avLst/>
              <a:gdLst/>
              <a:ahLst/>
              <a:cxnLst/>
              <a:rect r="r" b="b" t="t" l="l"/>
              <a:pathLst>
                <a:path h="1342136" w="22153880">
                  <a:moveTo>
                    <a:pt x="0" y="111887"/>
                  </a:moveTo>
                  <a:cubicBezTo>
                    <a:pt x="0" y="50038"/>
                    <a:pt x="50038" y="0"/>
                    <a:pt x="111887" y="0"/>
                  </a:cubicBezTo>
                  <a:lnTo>
                    <a:pt x="22041993" y="0"/>
                  </a:lnTo>
                  <a:cubicBezTo>
                    <a:pt x="22103714" y="0"/>
                    <a:pt x="22153880" y="50038"/>
                    <a:pt x="22153880" y="111887"/>
                  </a:cubicBezTo>
                  <a:lnTo>
                    <a:pt x="22153880" y="1230249"/>
                  </a:lnTo>
                  <a:cubicBezTo>
                    <a:pt x="22153880" y="1291971"/>
                    <a:pt x="22103842" y="1342136"/>
                    <a:pt x="22041993" y="1342136"/>
                  </a:cubicBezTo>
                  <a:lnTo>
                    <a:pt x="111887" y="1342136"/>
                  </a:lnTo>
                  <a:cubicBezTo>
                    <a:pt x="50165" y="1342136"/>
                    <a:pt x="0" y="1292098"/>
                    <a:pt x="0" y="1230249"/>
                  </a:cubicBezTo>
                  <a:close/>
                </a:path>
              </a:pathLst>
            </a:custGeom>
            <a:solidFill>
              <a:srgbClr val="F5F7F6"/>
            </a:solidFill>
            <a:ln w="19050" cap="sq">
              <a:solidFill>
                <a:srgbClr val="E2E6F0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165860" y="4581144"/>
            <a:ext cx="329184" cy="329184"/>
            <a:chOff x="0" y="0"/>
            <a:chExt cx="438912" cy="43891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C8933E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783080" y="4251960"/>
            <a:ext cx="15361920" cy="987552"/>
            <a:chOff x="0" y="0"/>
            <a:chExt cx="20482560" cy="131673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0482561" cy="1316736"/>
            </a:xfrm>
            <a:custGeom>
              <a:avLst/>
              <a:gdLst/>
              <a:ahLst/>
              <a:cxnLst/>
              <a:rect r="r" b="b" t="t" l="l"/>
              <a:pathLst>
                <a:path h="1316736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3100" r="0" b="-25310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20482560" cy="13262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49"/>
                </a:lnSpc>
              </a:pPr>
              <a:r>
                <a:rPr lang="en-US" sz="2374">
                  <a:solidFill>
                    <a:srgbClr val="26333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Medium customer segment generated the highest revenue.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813435" y="5408295"/>
            <a:ext cx="16615410" cy="1006602"/>
            <a:chOff x="0" y="0"/>
            <a:chExt cx="22153880" cy="134213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2153880" cy="1342136"/>
            </a:xfrm>
            <a:custGeom>
              <a:avLst/>
              <a:gdLst/>
              <a:ahLst/>
              <a:cxnLst/>
              <a:rect r="r" b="b" t="t" l="l"/>
              <a:pathLst>
                <a:path h="1342136" w="22153880">
                  <a:moveTo>
                    <a:pt x="0" y="111887"/>
                  </a:moveTo>
                  <a:cubicBezTo>
                    <a:pt x="0" y="50038"/>
                    <a:pt x="50038" y="0"/>
                    <a:pt x="111887" y="0"/>
                  </a:cubicBezTo>
                  <a:lnTo>
                    <a:pt x="22041993" y="0"/>
                  </a:lnTo>
                  <a:cubicBezTo>
                    <a:pt x="22103714" y="0"/>
                    <a:pt x="22153880" y="50038"/>
                    <a:pt x="22153880" y="111887"/>
                  </a:cubicBezTo>
                  <a:lnTo>
                    <a:pt x="22153880" y="1230249"/>
                  </a:lnTo>
                  <a:cubicBezTo>
                    <a:pt x="22153880" y="1291971"/>
                    <a:pt x="22103842" y="1342136"/>
                    <a:pt x="22041993" y="1342136"/>
                  </a:cubicBezTo>
                  <a:lnTo>
                    <a:pt x="111887" y="1342136"/>
                  </a:lnTo>
                  <a:cubicBezTo>
                    <a:pt x="50165" y="1342136"/>
                    <a:pt x="0" y="1292098"/>
                    <a:pt x="0" y="1230249"/>
                  </a:cubicBezTo>
                  <a:close/>
                </a:path>
              </a:pathLst>
            </a:custGeom>
            <a:solidFill>
              <a:srgbClr val="F5F7F6"/>
            </a:solidFill>
            <a:ln w="19050" cap="sq">
              <a:solidFill>
                <a:srgbClr val="E2E6F0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1165860" y="5747004"/>
            <a:ext cx="329184" cy="329184"/>
            <a:chOff x="0" y="0"/>
            <a:chExt cx="438912" cy="43891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C8933E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783080" y="5417820"/>
            <a:ext cx="15361920" cy="987552"/>
            <a:chOff x="0" y="0"/>
            <a:chExt cx="20482560" cy="131673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0482561" cy="1316736"/>
            </a:xfrm>
            <a:custGeom>
              <a:avLst/>
              <a:gdLst/>
              <a:ahLst/>
              <a:cxnLst/>
              <a:rect r="r" b="b" t="t" l="l"/>
              <a:pathLst>
                <a:path h="1316736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3100" r="0" b="-25310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9525"/>
              <a:ext cx="20482560" cy="13262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49"/>
                </a:lnSpc>
              </a:pPr>
              <a:r>
                <a:rPr lang="en-US" sz="2374">
                  <a:solidFill>
                    <a:srgbClr val="26333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New York recorded the highest revenue.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813435" y="6574155"/>
            <a:ext cx="16615410" cy="1006602"/>
            <a:chOff x="0" y="0"/>
            <a:chExt cx="22153880" cy="134213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2153880" cy="1342136"/>
            </a:xfrm>
            <a:custGeom>
              <a:avLst/>
              <a:gdLst/>
              <a:ahLst/>
              <a:cxnLst/>
              <a:rect r="r" b="b" t="t" l="l"/>
              <a:pathLst>
                <a:path h="1342136" w="22153880">
                  <a:moveTo>
                    <a:pt x="0" y="111887"/>
                  </a:moveTo>
                  <a:cubicBezTo>
                    <a:pt x="0" y="50038"/>
                    <a:pt x="50038" y="0"/>
                    <a:pt x="111887" y="0"/>
                  </a:cubicBezTo>
                  <a:lnTo>
                    <a:pt x="22041993" y="0"/>
                  </a:lnTo>
                  <a:cubicBezTo>
                    <a:pt x="22103714" y="0"/>
                    <a:pt x="22153880" y="50038"/>
                    <a:pt x="22153880" y="111887"/>
                  </a:cubicBezTo>
                  <a:lnTo>
                    <a:pt x="22153880" y="1230249"/>
                  </a:lnTo>
                  <a:cubicBezTo>
                    <a:pt x="22153880" y="1291971"/>
                    <a:pt x="22103842" y="1342136"/>
                    <a:pt x="22041993" y="1342136"/>
                  </a:cubicBezTo>
                  <a:lnTo>
                    <a:pt x="111887" y="1342136"/>
                  </a:lnTo>
                  <a:cubicBezTo>
                    <a:pt x="50165" y="1342136"/>
                    <a:pt x="0" y="1292098"/>
                    <a:pt x="0" y="1230249"/>
                  </a:cubicBezTo>
                  <a:close/>
                </a:path>
              </a:pathLst>
            </a:custGeom>
            <a:solidFill>
              <a:srgbClr val="F5F7F6"/>
            </a:solidFill>
            <a:ln w="19050" cap="sq">
              <a:solidFill>
                <a:srgbClr val="E2E6F0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1165860" y="6912864"/>
            <a:ext cx="329184" cy="329184"/>
            <a:chOff x="0" y="0"/>
            <a:chExt cx="438912" cy="438912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C8933E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783080" y="6583680"/>
            <a:ext cx="15361920" cy="987552"/>
            <a:chOff x="0" y="0"/>
            <a:chExt cx="20482560" cy="131673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0482561" cy="1316736"/>
            </a:xfrm>
            <a:custGeom>
              <a:avLst/>
              <a:gdLst/>
              <a:ahLst/>
              <a:cxnLst/>
              <a:rect r="r" b="b" t="t" l="l"/>
              <a:pathLst>
                <a:path h="1316736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3100" r="0" b="-25310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9525"/>
              <a:ext cx="20482560" cy="13262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49"/>
                </a:lnSpc>
              </a:pPr>
              <a:r>
                <a:rPr lang="en-US" sz="2374">
                  <a:solidFill>
                    <a:srgbClr val="26333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 few customers contributed a significant share of total revenue.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813435" y="7740015"/>
            <a:ext cx="16615410" cy="1006602"/>
            <a:chOff x="0" y="0"/>
            <a:chExt cx="22153880" cy="134213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2153880" cy="1342136"/>
            </a:xfrm>
            <a:custGeom>
              <a:avLst/>
              <a:gdLst/>
              <a:ahLst/>
              <a:cxnLst/>
              <a:rect r="r" b="b" t="t" l="l"/>
              <a:pathLst>
                <a:path h="1342136" w="22153880">
                  <a:moveTo>
                    <a:pt x="0" y="111887"/>
                  </a:moveTo>
                  <a:cubicBezTo>
                    <a:pt x="0" y="50038"/>
                    <a:pt x="50038" y="0"/>
                    <a:pt x="111887" y="0"/>
                  </a:cubicBezTo>
                  <a:lnTo>
                    <a:pt x="22041993" y="0"/>
                  </a:lnTo>
                  <a:cubicBezTo>
                    <a:pt x="22103714" y="0"/>
                    <a:pt x="22153880" y="50038"/>
                    <a:pt x="22153880" y="111887"/>
                  </a:cubicBezTo>
                  <a:lnTo>
                    <a:pt x="22153880" y="1230249"/>
                  </a:lnTo>
                  <a:cubicBezTo>
                    <a:pt x="22153880" y="1291971"/>
                    <a:pt x="22103842" y="1342136"/>
                    <a:pt x="22041993" y="1342136"/>
                  </a:cubicBezTo>
                  <a:lnTo>
                    <a:pt x="111887" y="1342136"/>
                  </a:lnTo>
                  <a:cubicBezTo>
                    <a:pt x="50165" y="1342136"/>
                    <a:pt x="0" y="1292098"/>
                    <a:pt x="0" y="1230249"/>
                  </a:cubicBezTo>
                  <a:close/>
                </a:path>
              </a:pathLst>
            </a:custGeom>
            <a:solidFill>
              <a:srgbClr val="F5F7F6"/>
            </a:solidFill>
            <a:ln w="19050" cap="sq">
              <a:solidFill>
                <a:srgbClr val="E2E6F0"/>
              </a:solidFill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1165860" y="8078724"/>
            <a:ext cx="329184" cy="329184"/>
            <a:chOff x="0" y="0"/>
            <a:chExt cx="438912" cy="43891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C8933E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783080" y="7749540"/>
            <a:ext cx="15361920" cy="987552"/>
            <a:chOff x="0" y="0"/>
            <a:chExt cx="20482560" cy="1316736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0482561" cy="1316736"/>
            </a:xfrm>
            <a:custGeom>
              <a:avLst/>
              <a:gdLst/>
              <a:ahLst/>
              <a:cxnLst/>
              <a:rect r="r" b="b" t="t" l="l"/>
              <a:pathLst>
                <a:path h="1316736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3100" r="0" b="-25310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9525"/>
              <a:ext cx="20482560" cy="13262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49"/>
                </a:lnSpc>
              </a:pPr>
              <a:r>
                <a:rPr lang="en-US" sz="2374">
                  <a:solidFill>
                    <a:srgbClr val="26333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Some bicycle products performed exceptionally well.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813435" y="8905875"/>
            <a:ext cx="16615410" cy="1006602"/>
            <a:chOff x="0" y="0"/>
            <a:chExt cx="22153880" cy="1342136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22153880" cy="1342136"/>
            </a:xfrm>
            <a:custGeom>
              <a:avLst/>
              <a:gdLst/>
              <a:ahLst/>
              <a:cxnLst/>
              <a:rect r="r" b="b" t="t" l="l"/>
              <a:pathLst>
                <a:path h="1342136" w="22153880">
                  <a:moveTo>
                    <a:pt x="0" y="111887"/>
                  </a:moveTo>
                  <a:cubicBezTo>
                    <a:pt x="0" y="50038"/>
                    <a:pt x="50038" y="0"/>
                    <a:pt x="111887" y="0"/>
                  </a:cubicBezTo>
                  <a:lnTo>
                    <a:pt x="22041993" y="0"/>
                  </a:lnTo>
                  <a:cubicBezTo>
                    <a:pt x="22103714" y="0"/>
                    <a:pt x="22153880" y="50038"/>
                    <a:pt x="22153880" y="111887"/>
                  </a:cubicBezTo>
                  <a:lnTo>
                    <a:pt x="22153880" y="1230249"/>
                  </a:lnTo>
                  <a:cubicBezTo>
                    <a:pt x="22153880" y="1291971"/>
                    <a:pt x="22103842" y="1342136"/>
                    <a:pt x="22041993" y="1342136"/>
                  </a:cubicBezTo>
                  <a:lnTo>
                    <a:pt x="111887" y="1342136"/>
                  </a:lnTo>
                  <a:cubicBezTo>
                    <a:pt x="50165" y="1342136"/>
                    <a:pt x="0" y="1292098"/>
                    <a:pt x="0" y="1230249"/>
                  </a:cubicBezTo>
                  <a:close/>
                </a:path>
              </a:pathLst>
            </a:custGeom>
            <a:solidFill>
              <a:srgbClr val="F5F7F6"/>
            </a:solidFill>
            <a:ln w="19050" cap="sq">
              <a:solidFill>
                <a:srgbClr val="E2E6F0"/>
              </a:solidFill>
              <a:prstDash val="solid"/>
              <a:miter/>
            </a:ln>
          </p:spPr>
        </p:sp>
      </p:grpSp>
      <p:grpSp>
        <p:nvGrpSpPr>
          <p:cNvPr name="Group 69" id="69"/>
          <p:cNvGrpSpPr/>
          <p:nvPr/>
        </p:nvGrpSpPr>
        <p:grpSpPr>
          <a:xfrm rot="0">
            <a:off x="1165860" y="9244584"/>
            <a:ext cx="329184" cy="329184"/>
            <a:chOff x="0" y="0"/>
            <a:chExt cx="438912" cy="438912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C8933E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783080" y="8915400"/>
            <a:ext cx="15361920" cy="987552"/>
            <a:chOff x="0" y="0"/>
            <a:chExt cx="20482560" cy="1316736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0482561" cy="1316736"/>
            </a:xfrm>
            <a:custGeom>
              <a:avLst/>
              <a:gdLst/>
              <a:ahLst/>
              <a:cxnLst/>
              <a:rect r="r" b="b" t="t" l="l"/>
              <a:pathLst>
                <a:path h="1316736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3100" r="0" b="-25310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9525"/>
              <a:ext cx="20482560" cy="13262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49"/>
                </a:lnSpc>
              </a:pPr>
              <a:r>
                <a:rPr lang="en-US" sz="2374">
                  <a:solidFill>
                    <a:srgbClr val="26333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Monthly sales showed noticeable fluctuations.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7145000" y="9806940"/>
            <a:ext cx="548640" cy="411480"/>
            <a:chOff x="0" y="0"/>
            <a:chExt cx="731520" cy="54864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19050"/>
              <a:ext cx="73152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F6B7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10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DE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754380"/>
            <a:ext cx="10972800" cy="1019789"/>
            <a:chOff x="0" y="0"/>
            <a:chExt cx="14630400" cy="1359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1359719"/>
            </a:xfrm>
            <a:custGeom>
              <a:avLst/>
              <a:gdLst/>
              <a:ahLst/>
              <a:cxnLst/>
              <a:rect r="r" b="b" t="t" l="l"/>
              <a:pathLst>
                <a:path h="1359719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359719"/>
                  </a:lnTo>
                  <a:lnTo>
                    <a:pt x="0" y="1359719"/>
                  </a:lnTo>
                  <a:close/>
                </a:path>
              </a:pathLst>
            </a:custGeom>
            <a:solidFill>
              <a:srgbClr val="26333A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4630400" cy="13882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b="true" sz="5100">
                  <a:solidFill>
                    <a:srgbClr val="26333A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Conclusion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714500"/>
            <a:ext cx="1234440" cy="82296"/>
            <a:chOff x="0" y="0"/>
            <a:chExt cx="1645920" cy="1097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45920" cy="109728"/>
            </a:xfrm>
            <a:custGeom>
              <a:avLst/>
              <a:gdLst/>
              <a:ahLst/>
              <a:cxnLst/>
              <a:rect r="r" b="b" t="t" l="l"/>
              <a:pathLst>
                <a:path h="109728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09728"/>
                  </a:lnTo>
                  <a:lnTo>
                    <a:pt x="0" y="109728"/>
                  </a:lnTo>
                  <a:close/>
                </a:path>
              </a:pathLst>
            </a:custGeom>
            <a:solidFill>
              <a:srgbClr val="C8933E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2537460"/>
            <a:ext cx="16184880" cy="1165860"/>
            <a:chOff x="0" y="0"/>
            <a:chExt cx="21579840" cy="15544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579841" cy="1554480"/>
            </a:xfrm>
            <a:custGeom>
              <a:avLst/>
              <a:gdLst/>
              <a:ahLst/>
              <a:cxnLst/>
              <a:rect r="r" b="b" t="t" l="l"/>
              <a:pathLst>
                <a:path h="1554480" w="21579841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1470113" y="0"/>
                  </a:lnTo>
                  <a:cubicBezTo>
                    <a:pt x="21530692" y="0"/>
                    <a:pt x="21579841" y="49149"/>
                    <a:pt x="21579841" y="109728"/>
                  </a:cubicBezTo>
                  <a:lnTo>
                    <a:pt x="21579841" y="1444752"/>
                  </a:lnTo>
                  <a:cubicBezTo>
                    <a:pt x="21579841" y="1505331"/>
                    <a:pt x="21530692" y="1554480"/>
                    <a:pt x="21470113" y="1554480"/>
                  </a:cubicBezTo>
                  <a:lnTo>
                    <a:pt x="109728" y="1554480"/>
                  </a:lnTo>
                  <a:cubicBezTo>
                    <a:pt x="49149" y="1554480"/>
                    <a:pt x="0" y="1505331"/>
                    <a:pt x="0" y="1444752"/>
                  </a:cubicBezTo>
                  <a:close/>
                </a:path>
              </a:pathLst>
            </a:custGeom>
            <a:solidFill>
              <a:srgbClr val="3C565A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344168" y="2811780"/>
            <a:ext cx="617220" cy="617220"/>
            <a:chOff x="0" y="0"/>
            <a:chExt cx="822960" cy="8229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411480"/>
                  </a:moveTo>
                  <a:cubicBezTo>
                    <a:pt x="0" y="184277"/>
                    <a:pt x="184277" y="0"/>
                    <a:pt x="411480" y="0"/>
                  </a:cubicBezTo>
                  <a:cubicBezTo>
                    <a:pt x="638683" y="0"/>
                    <a:pt x="822960" y="184277"/>
                    <a:pt x="822960" y="411480"/>
                  </a:cubicBezTo>
                  <a:cubicBezTo>
                    <a:pt x="822960" y="638683"/>
                    <a:pt x="638683" y="822960"/>
                    <a:pt x="411480" y="822960"/>
                  </a:cubicBezTo>
                  <a:cubicBezTo>
                    <a:pt x="184277" y="822960"/>
                    <a:pt x="0" y="638683"/>
                    <a:pt x="0" y="411480"/>
                  </a:cubicBezTo>
                  <a:close/>
                </a:path>
              </a:pathLst>
            </a:custGeom>
            <a:solidFill>
              <a:srgbClr val="C8933E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344168" y="2811780"/>
            <a:ext cx="617220" cy="617220"/>
            <a:chOff x="0" y="0"/>
            <a:chExt cx="822960" cy="8229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822960" cy="832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82"/>
                </a:lnSpc>
              </a:pPr>
              <a:r>
                <a:rPr lang="en-US" sz="1485" b="true">
                  <a:solidFill>
                    <a:srgbClr val="26333A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✓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263140" y="2537460"/>
            <a:ext cx="14676120" cy="1165860"/>
            <a:chOff x="0" y="0"/>
            <a:chExt cx="19568160" cy="15544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568161" cy="1554480"/>
            </a:xfrm>
            <a:custGeom>
              <a:avLst/>
              <a:gdLst/>
              <a:ahLst/>
              <a:cxnLst/>
              <a:rect r="r" b="b" t="t" l="l"/>
              <a:pathLst>
                <a:path h="1554480" w="19568161">
                  <a:moveTo>
                    <a:pt x="0" y="0"/>
                  </a:moveTo>
                  <a:lnTo>
                    <a:pt x="19568161" y="0"/>
                  </a:lnTo>
                  <a:lnTo>
                    <a:pt x="19568161" y="1554480"/>
                  </a:lnTo>
                  <a:lnTo>
                    <a:pt x="0" y="1554480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19568160" cy="1573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39"/>
                </a:lnSpc>
              </a:pPr>
              <a:r>
                <a:rPr lang="en-US" sz="2449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Successfully completed an end-to-end retail analytics project.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28700" y="3881628"/>
            <a:ext cx="16184880" cy="1165860"/>
            <a:chOff x="0" y="0"/>
            <a:chExt cx="21579840" cy="15544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579841" cy="1554480"/>
            </a:xfrm>
            <a:custGeom>
              <a:avLst/>
              <a:gdLst/>
              <a:ahLst/>
              <a:cxnLst/>
              <a:rect r="r" b="b" t="t" l="l"/>
              <a:pathLst>
                <a:path h="1554480" w="21579841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1470113" y="0"/>
                  </a:lnTo>
                  <a:cubicBezTo>
                    <a:pt x="21530692" y="0"/>
                    <a:pt x="21579841" y="49149"/>
                    <a:pt x="21579841" y="109728"/>
                  </a:cubicBezTo>
                  <a:lnTo>
                    <a:pt x="21579841" y="1444752"/>
                  </a:lnTo>
                  <a:cubicBezTo>
                    <a:pt x="21579841" y="1505331"/>
                    <a:pt x="21530692" y="1554480"/>
                    <a:pt x="21470113" y="1554480"/>
                  </a:cubicBezTo>
                  <a:lnTo>
                    <a:pt x="109728" y="1554480"/>
                  </a:lnTo>
                  <a:cubicBezTo>
                    <a:pt x="49149" y="1554480"/>
                    <a:pt x="0" y="1505331"/>
                    <a:pt x="0" y="1444752"/>
                  </a:cubicBezTo>
                  <a:close/>
                </a:path>
              </a:pathLst>
            </a:custGeom>
            <a:solidFill>
              <a:srgbClr val="3C565A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344168" y="4155948"/>
            <a:ext cx="617220" cy="617220"/>
            <a:chOff x="0" y="0"/>
            <a:chExt cx="822960" cy="8229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411480"/>
                  </a:moveTo>
                  <a:cubicBezTo>
                    <a:pt x="0" y="184277"/>
                    <a:pt x="184277" y="0"/>
                    <a:pt x="411480" y="0"/>
                  </a:cubicBezTo>
                  <a:cubicBezTo>
                    <a:pt x="638683" y="0"/>
                    <a:pt x="822960" y="184277"/>
                    <a:pt x="822960" y="411480"/>
                  </a:cubicBezTo>
                  <a:cubicBezTo>
                    <a:pt x="822960" y="638683"/>
                    <a:pt x="638683" y="822960"/>
                    <a:pt x="411480" y="822960"/>
                  </a:cubicBezTo>
                  <a:cubicBezTo>
                    <a:pt x="184277" y="822960"/>
                    <a:pt x="0" y="638683"/>
                    <a:pt x="0" y="411480"/>
                  </a:cubicBezTo>
                  <a:close/>
                </a:path>
              </a:pathLst>
            </a:custGeom>
            <a:solidFill>
              <a:srgbClr val="C8933E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344168" y="4155948"/>
            <a:ext cx="617220" cy="617220"/>
            <a:chOff x="0" y="0"/>
            <a:chExt cx="822960" cy="8229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822960" cy="832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82"/>
                </a:lnSpc>
              </a:pPr>
              <a:r>
                <a:rPr lang="en-US" sz="1485" b="true">
                  <a:solidFill>
                    <a:srgbClr val="26333A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✓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2263140" y="3881628"/>
            <a:ext cx="14676120" cy="1165860"/>
            <a:chOff x="0" y="0"/>
            <a:chExt cx="19568160" cy="15544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9568161" cy="1554480"/>
            </a:xfrm>
            <a:custGeom>
              <a:avLst/>
              <a:gdLst/>
              <a:ahLst/>
              <a:cxnLst/>
              <a:rect r="r" b="b" t="t" l="l"/>
              <a:pathLst>
                <a:path h="1554480" w="19568161">
                  <a:moveTo>
                    <a:pt x="0" y="0"/>
                  </a:moveTo>
                  <a:lnTo>
                    <a:pt x="19568161" y="0"/>
                  </a:lnTo>
                  <a:lnTo>
                    <a:pt x="19568161" y="1554480"/>
                  </a:lnTo>
                  <a:lnTo>
                    <a:pt x="0" y="1554480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19568160" cy="1573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39"/>
                </a:lnSpc>
              </a:pPr>
              <a:r>
                <a:rPr lang="en-US" sz="2449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Improved data quality using Excel.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28700" y="5225796"/>
            <a:ext cx="16184880" cy="1165860"/>
            <a:chOff x="0" y="0"/>
            <a:chExt cx="21579840" cy="15544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1579841" cy="1554480"/>
            </a:xfrm>
            <a:custGeom>
              <a:avLst/>
              <a:gdLst/>
              <a:ahLst/>
              <a:cxnLst/>
              <a:rect r="r" b="b" t="t" l="l"/>
              <a:pathLst>
                <a:path h="1554480" w="21579841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1470113" y="0"/>
                  </a:lnTo>
                  <a:cubicBezTo>
                    <a:pt x="21530692" y="0"/>
                    <a:pt x="21579841" y="49149"/>
                    <a:pt x="21579841" y="109728"/>
                  </a:cubicBezTo>
                  <a:lnTo>
                    <a:pt x="21579841" y="1444752"/>
                  </a:lnTo>
                  <a:cubicBezTo>
                    <a:pt x="21579841" y="1505331"/>
                    <a:pt x="21530692" y="1554480"/>
                    <a:pt x="21470113" y="1554480"/>
                  </a:cubicBezTo>
                  <a:lnTo>
                    <a:pt x="109728" y="1554480"/>
                  </a:lnTo>
                  <a:cubicBezTo>
                    <a:pt x="49149" y="1554480"/>
                    <a:pt x="0" y="1505331"/>
                    <a:pt x="0" y="1444752"/>
                  </a:cubicBezTo>
                  <a:close/>
                </a:path>
              </a:pathLst>
            </a:custGeom>
            <a:solidFill>
              <a:srgbClr val="3C565A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344168" y="5500116"/>
            <a:ext cx="617220" cy="617220"/>
            <a:chOff x="0" y="0"/>
            <a:chExt cx="822960" cy="8229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411480"/>
                  </a:moveTo>
                  <a:cubicBezTo>
                    <a:pt x="0" y="184277"/>
                    <a:pt x="184277" y="0"/>
                    <a:pt x="411480" y="0"/>
                  </a:cubicBezTo>
                  <a:cubicBezTo>
                    <a:pt x="638683" y="0"/>
                    <a:pt x="822960" y="184277"/>
                    <a:pt x="822960" y="411480"/>
                  </a:cubicBezTo>
                  <a:cubicBezTo>
                    <a:pt x="822960" y="638683"/>
                    <a:pt x="638683" y="822960"/>
                    <a:pt x="411480" y="822960"/>
                  </a:cubicBezTo>
                  <a:cubicBezTo>
                    <a:pt x="184277" y="822960"/>
                    <a:pt x="0" y="638683"/>
                    <a:pt x="0" y="411480"/>
                  </a:cubicBezTo>
                  <a:close/>
                </a:path>
              </a:pathLst>
            </a:custGeom>
            <a:solidFill>
              <a:srgbClr val="C8933E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344168" y="5500116"/>
            <a:ext cx="617220" cy="617220"/>
            <a:chOff x="0" y="0"/>
            <a:chExt cx="822960" cy="8229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822960" cy="832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82"/>
                </a:lnSpc>
              </a:pPr>
              <a:r>
                <a:rPr lang="en-US" sz="1485" b="true">
                  <a:solidFill>
                    <a:srgbClr val="26333A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✓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2263140" y="5225796"/>
            <a:ext cx="14676120" cy="1165860"/>
            <a:chOff x="0" y="0"/>
            <a:chExt cx="19568160" cy="15544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9568161" cy="1554480"/>
            </a:xfrm>
            <a:custGeom>
              <a:avLst/>
              <a:gdLst/>
              <a:ahLst/>
              <a:cxnLst/>
              <a:rect r="r" b="b" t="t" l="l"/>
              <a:pathLst>
                <a:path h="1554480" w="19568161">
                  <a:moveTo>
                    <a:pt x="0" y="0"/>
                  </a:moveTo>
                  <a:lnTo>
                    <a:pt x="19568161" y="0"/>
                  </a:lnTo>
                  <a:lnTo>
                    <a:pt x="19568161" y="1554480"/>
                  </a:lnTo>
                  <a:lnTo>
                    <a:pt x="0" y="1554480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19568160" cy="1573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39"/>
                </a:lnSpc>
              </a:pPr>
              <a:r>
                <a:rPr lang="en-US" sz="2449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Extracted business insights using SQL and Python.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028700" y="6569964"/>
            <a:ext cx="16184880" cy="1165860"/>
            <a:chOff x="0" y="0"/>
            <a:chExt cx="21579840" cy="15544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1579841" cy="1554480"/>
            </a:xfrm>
            <a:custGeom>
              <a:avLst/>
              <a:gdLst/>
              <a:ahLst/>
              <a:cxnLst/>
              <a:rect r="r" b="b" t="t" l="l"/>
              <a:pathLst>
                <a:path h="1554480" w="21579841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1470113" y="0"/>
                  </a:lnTo>
                  <a:cubicBezTo>
                    <a:pt x="21530692" y="0"/>
                    <a:pt x="21579841" y="49149"/>
                    <a:pt x="21579841" y="109728"/>
                  </a:cubicBezTo>
                  <a:lnTo>
                    <a:pt x="21579841" y="1444752"/>
                  </a:lnTo>
                  <a:cubicBezTo>
                    <a:pt x="21579841" y="1505331"/>
                    <a:pt x="21530692" y="1554480"/>
                    <a:pt x="21470113" y="1554480"/>
                  </a:cubicBezTo>
                  <a:lnTo>
                    <a:pt x="109728" y="1554480"/>
                  </a:lnTo>
                  <a:cubicBezTo>
                    <a:pt x="49149" y="1554480"/>
                    <a:pt x="0" y="1505331"/>
                    <a:pt x="0" y="1444752"/>
                  </a:cubicBezTo>
                  <a:close/>
                </a:path>
              </a:pathLst>
            </a:custGeom>
            <a:solidFill>
              <a:srgbClr val="3C565A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344168" y="6844284"/>
            <a:ext cx="617220" cy="617220"/>
            <a:chOff x="0" y="0"/>
            <a:chExt cx="822960" cy="82296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411480"/>
                  </a:moveTo>
                  <a:cubicBezTo>
                    <a:pt x="0" y="184277"/>
                    <a:pt x="184277" y="0"/>
                    <a:pt x="411480" y="0"/>
                  </a:cubicBezTo>
                  <a:cubicBezTo>
                    <a:pt x="638683" y="0"/>
                    <a:pt x="822960" y="184277"/>
                    <a:pt x="822960" y="411480"/>
                  </a:cubicBezTo>
                  <a:cubicBezTo>
                    <a:pt x="822960" y="638683"/>
                    <a:pt x="638683" y="822960"/>
                    <a:pt x="411480" y="822960"/>
                  </a:cubicBezTo>
                  <a:cubicBezTo>
                    <a:pt x="184277" y="822960"/>
                    <a:pt x="0" y="638683"/>
                    <a:pt x="0" y="411480"/>
                  </a:cubicBezTo>
                  <a:close/>
                </a:path>
              </a:pathLst>
            </a:custGeom>
            <a:solidFill>
              <a:srgbClr val="C8933E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344168" y="6844284"/>
            <a:ext cx="617220" cy="617220"/>
            <a:chOff x="0" y="0"/>
            <a:chExt cx="822960" cy="8229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9525"/>
              <a:ext cx="822960" cy="832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82"/>
                </a:lnSpc>
              </a:pPr>
              <a:r>
                <a:rPr lang="en-US" sz="1485" b="true">
                  <a:solidFill>
                    <a:srgbClr val="26333A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✓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2263140" y="6569964"/>
            <a:ext cx="14676120" cy="1165860"/>
            <a:chOff x="0" y="0"/>
            <a:chExt cx="19568160" cy="15544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9568161" cy="1554480"/>
            </a:xfrm>
            <a:custGeom>
              <a:avLst/>
              <a:gdLst/>
              <a:ahLst/>
              <a:cxnLst/>
              <a:rect r="r" b="b" t="t" l="l"/>
              <a:pathLst>
                <a:path h="1554480" w="19568161">
                  <a:moveTo>
                    <a:pt x="0" y="0"/>
                  </a:moveTo>
                  <a:lnTo>
                    <a:pt x="19568161" y="0"/>
                  </a:lnTo>
                  <a:lnTo>
                    <a:pt x="19568161" y="1554480"/>
                  </a:lnTo>
                  <a:lnTo>
                    <a:pt x="0" y="1554480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19568160" cy="1573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39"/>
                </a:lnSpc>
              </a:pPr>
              <a:r>
                <a:rPr lang="en-US" sz="2449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Developed an interactive Power BI dashboard.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028700" y="7914132"/>
            <a:ext cx="16184880" cy="1165860"/>
            <a:chOff x="0" y="0"/>
            <a:chExt cx="21579840" cy="15544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1579841" cy="1554480"/>
            </a:xfrm>
            <a:custGeom>
              <a:avLst/>
              <a:gdLst/>
              <a:ahLst/>
              <a:cxnLst/>
              <a:rect r="r" b="b" t="t" l="l"/>
              <a:pathLst>
                <a:path h="1554480" w="21579841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1470113" y="0"/>
                  </a:lnTo>
                  <a:cubicBezTo>
                    <a:pt x="21530692" y="0"/>
                    <a:pt x="21579841" y="49149"/>
                    <a:pt x="21579841" y="109728"/>
                  </a:cubicBezTo>
                  <a:lnTo>
                    <a:pt x="21579841" y="1444752"/>
                  </a:lnTo>
                  <a:cubicBezTo>
                    <a:pt x="21579841" y="1505331"/>
                    <a:pt x="21530692" y="1554480"/>
                    <a:pt x="21470113" y="1554480"/>
                  </a:cubicBezTo>
                  <a:lnTo>
                    <a:pt x="109728" y="1554480"/>
                  </a:lnTo>
                  <a:cubicBezTo>
                    <a:pt x="49149" y="1554480"/>
                    <a:pt x="0" y="1505331"/>
                    <a:pt x="0" y="1444752"/>
                  </a:cubicBezTo>
                  <a:close/>
                </a:path>
              </a:pathLst>
            </a:custGeom>
            <a:solidFill>
              <a:srgbClr val="3C565A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344168" y="8188452"/>
            <a:ext cx="617220" cy="617220"/>
            <a:chOff x="0" y="0"/>
            <a:chExt cx="822960" cy="82296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411480"/>
                  </a:moveTo>
                  <a:cubicBezTo>
                    <a:pt x="0" y="184277"/>
                    <a:pt x="184277" y="0"/>
                    <a:pt x="411480" y="0"/>
                  </a:cubicBezTo>
                  <a:cubicBezTo>
                    <a:pt x="638683" y="0"/>
                    <a:pt x="822960" y="184277"/>
                    <a:pt x="822960" y="411480"/>
                  </a:cubicBezTo>
                  <a:cubicBezTo>
                    <a:pt x="822960" y="638683"/>
                    <a:pt x="638683" y="822960"/>
                    <a:pt x="411480" y="822960"/>
                  </a:cubicBezTo>
                  <a:cubicBezTo>
                    <a:pt x="184277" y="822960"/>
                    <a:pt x="0" y="638683"/>
                    <a:pt x="0" y="411480"/>
                  </a:cubicBezTo>
                  <a:close/>
                </a:path>
              </a:pathLst>
            </a:custGeom>
            <a:solidFill>
              <a:srgbClr val="C8933E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344168" y="8188452"/>
            <a:ext cx="617220" cy="617220"/>
            <a:chOff x="0" y="0"/>
            <a:chExt cx="822960" cy="82296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9525"/>
              <a:ext cx="822960" cy="832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82"/>
                </a:lnSpc>
              </a:pPr>
              <a:r>
                <a:rPr lang="en-US" sz="1485" b="true">
                  <a:solidFill>
                    <a:srgbClr val="26333A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✓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2263140" y="7914132"/>
            <a:ext cx="14676120" cy="1165860"/>
            <a:chOff x="0" y="0"/>
            <a:chExt cx="19568160" cy="155448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9568161" cy="1554480"/>
            </a:xfrm>
            <a:custGeom>
              <a:avLst/>
              <a:gdLst/>
              <a:ahLst/>
              <a:cxnLst/>
              <a:rect r="r" b="b" t="t" l="l"/>
              <a:pathLst>
                <a:path h="1554480" w="19568161">
                  <a:moveTo>
                    <a:pt x="0" y="0"/>
                  </a:moveTo>
                  <a:lnTo>
                    <a:pt x="19568161" y="0"/>
                  </a:lnTo>
                  <a:lnTo>
                    <a:pt x="19568161" y="1554480"/>
                  </a:lnTo>
                  <a:lnTo>
                    <a:pt x="0" y="1554480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19050"/>
              <a:ext cx="19568160" cy="1573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39"/>
                </a:lnSpc>
              </a:pPr>
              <a:r>
                <a:rPr lang="en-US" sz="2449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The dashboard supports better decision-making through real-time business insights.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7145000" y="9806940"/>
            <a:ext cx="548640" cy="411480"/>
            <a:chOff x="0" y="0"/>
            <a:chExt cx="731520" cy="54864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19050"/>
              <a:ext cx="73152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D9E8E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11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-5400000">
            <a:off x="15361409" y="0"/>
            <a:ext cx="2926591" cy="2926591"/>
            <a:chOff x="0" y="0"/>
            <a:chExt cx="558800" cy="5588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0" y="558800"/>
                  </a:moveTo>
                  <a:cubicBezTo>
                    <a:pt x="0" y="411634"/>
                    <a:pt x="59606" y="267731"/>
                    <a:pt x="163669" y="163669"/>
                  </a:cubicBezTo>
                  <a:cubicBezTo>
                    <a:pt x="267731" y="59606"/>
                    <a:pt x="411634" y="0"/>
                    <a:pt x="558800" y="0"/>
                  </a:cubicBezTo>
                  <a:lnTo>
                    <a:pt x="558800" y="558800"/>
                  </a:lnTo>
                  <a:lnTo>
                    <a:pt x="0" y="558800"/>
                  </a:lnTo>
                  <a:close/>
                </a:path>
              </a:pathLst>
            </a:custGeom>
            <a:solidFill>
              <a:srgbClr val="3C565A"/>
            </a:solidFill>
          </p:spPr>
        </p:sp>
        <p:sp>
          <p:nvSpPr>
            <p:cNvPr name="TextBox 62" id="62"/>
            <p:cNvSpPr txBox="true"/>
            <p:nvPr/>
          </p:nvSpPr>
          <p:spPr>
            <a:xfrm>
              <a:off x="165100" y="146050"/>
              <a:ext cx="393700" cy="412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5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703320"/>
            <a:ext cx="18242280" cy="1508760"/>
            <a:chOff x="0" y="0"/>
            <a:chExt cx="24323040" cy="20116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23039" cy="2011680"/>
            </a:xfrm>
            <a:custGeom>
              <a:avLst/>
              <a:gdLst/>
              <a:ahLst/>
              <a:cxnLst/>
              <a:rect r="r" b="b" t="t" l="l"/>
              <a:pathLst>
                <a:path h="2011680" w="24323039">
                  <a:moveTo>
                    <a:pt x="0" y="0"/>
                  </a:moveTo>
                  <a:lnTo>
                    <a:pt x="24323039" y="0"/>
                  </a:lnTo>
                  <a:lnTo>
                    <a:pt x="24323039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5591" r="0" b="-18559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23040" cy="2049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640"/>
                </a:lnSpc>
              </a:pPr>
              <a:r>
                <a:rPr lang="en-US" b="true" sz="7200">
                  <a:solidFill>
                    <a:srgbClr val="5F6B7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Thank You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435340" y="5280660"/>
            <a:ext cx="1371600" cy="82296"/>
            <a:chOff x="0" y="0"/>
            <a:chExt cx="1828800" cy="1097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28800" cy="109728"/>
            </a:xfrm>
            <a:custGeom>
              <a:avLst/>
              <a:gdLst/>
              <a:ahLst/>
              <a:cxnLst/>
              <a:rect r="r" b="b" t="t" l="l"/>
              <a:pathLst>
                <a:path h="109728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09728"/>
                  </a:lnTo>
                  <a:lnTo>
                    <a:pt x="0" y="109728"/>
                  </a:lnTo>
                  <a:close/>
                </a:path>
              </a:pathLst>
            </a:custGeom>
            <a:solidFill>
              <a:srgbClr val="C8933E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4335439" y="6380159"/>
            <a:ext cx="3906841" cy="3906841"/>
            <a:chOff x="0" y="0"/>
            <a:chExt cx="558800" cy="558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0" y="558800"/>
                  </a:moveTo>
                  <a:cubicBezTo>
                    <a:pt x="0" y="411634"/>
                    <a:pt x="59606" y="267731"/>
                    <a:pt x="163669" y="163669"/>
                  </a:cubicBezTo>
                  <a:cubicBezTo>
                    <a:pt x="267731" y="59606"/>
                    <a:pt x="411634" y="0"/>
                    <a:pt x="558800" y="0"/>
                  </a:cubicBezTo>
                  <a:lnTo>
                    <a:pt x="558800" y="558800"/>
                  </a:lnTo>
                  <a:lnTo>
                    <a:pt x="0" y="558800"/>
                  </a:lnTo>
                  <a:close/>
                </a:path>
              </a:pathLst>
            </a:custGeom>
            <a:solidFill>
              <a:srgbClr val="3C565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65100" y="146050"/>
              <a:ext cx="393700" cy="412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-10800000">
            <a:off x="0" y="0"/>
            <a:ext cx="3703320" cy="3703320"/>
            <a:chOff x="0" y="0"/>
            <a:chExt cx="558800" cy="558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0" y="558800"/>
                  </a:moveTo>
                  <a:cubicBezTo>
                    <a:pt x="0" y="411634"/>
                    <a:pt x="59606" y="267731"/>
                    <a:pt x="163669" y="163669"/>
                  </a:cubicBezTo>
                  <a:cubicBezTo>
                    <a:pt x="267731" y="59606"/>
                    <a:pt x="411634" y="0"/>
                    <a:pt x="558800" y="0"/>
                  </a:cubicBezTo>
                  <a:lnTo>
                    <a:pt x="558800" y="558800"/>
                  </a:lnTo>
                  <a:lnTo>
                    <a:pt x="0" y="558800"/>
                  </a:lnTo>
                  <a:close/>
                </a:path>
              </a:pathLst>
            </a:custGeom>
            <a:solidFill>
              <a:srgbClr val="3C565A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65100" y="146050"/>
              <a:ext cx="393700" cy="412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DAHQ2wOepXE</dc:identifier>
  <dcterms:modified xsi:type="dcterms:W3CDTF">2011-08-01T06:04:30Z</dcterms:modified>
  <cp:revision>1</cp:revision>
  <dc:title>Retail_Sales_Analytics (1).pptx</dc:title>
</cp:coreProperties>
</file>